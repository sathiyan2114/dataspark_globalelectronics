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36"/>
  </p:notesMasterIdLst>
  <p:handoutMasterIdLst>
    <p:handoutMasterId r:id="rId37"/>
  </p:handoutMasterIdLst>
  <p:sldIdLst>
    <p:sldId id="256" r:id="rId5"/>
    <p:sldId id="257" r:id="rId6"/>
    <p:sldId id="286" r:id="rId7"/>
    <p:sldId id="289" r:id="rId8"/>
    <p:sldId id="288" r:id="rId9"/>
    <p:sldId id="290" r:id="rId10"/>
    <p:sldId id="297" r:id="rId11"/>
    <p:sldId id="291" r:id="rId12"/>
    <p:sldId id="292" r:id="rId13"/>
    <p:sldId id="295" r:id="rId14"/>
    <p:sldId id="299" r:id="rId15"/>
    <p:sldId id="300" r:id="rId16"/>
    <p:sldId id="301" r:id="rId17"/>
    <p:sldId id="302" r:id="rId18"/>
    <p:sldId id="303" r:id="rId19"/>
    <p:sldId id="304" r:id="rId20"/>
    <p:sldId id="305" r:id="rId21"/>
    <p:sldId id="307" r:id="rId22"/>
    <p:sldId id="306" r:id="rId23"/>
    <p:sldId id="308" r:id="rId24"/>
    <p:sldId id="311" r:id="rId25"/>
    <p:sldId id="312" r:id="rId26"/>
    <p:sldId id="313" r:id="rId27"/>
    <p:sldId id="314" r:id="rId28"/>
    <p:sldId id="315" r:id="rId29"/>
    <p:sldId id="316" r:id="rId30"/>
    <p:sldId id="310" r:id="rId31"/>
    <p:sldId id="309" r:id="rId32"/>
    <p:sldId id="317" r:id="rId33"/>
    <p:sldId id="294" r:id="rId34"/>
    <p:sldId id="29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646" autoAdjust="0"/>
  </p:normalViewPr>
  <p:slideViewPr>
    <p:cSldViewPr snapToGrid="0">
      <p:cViewPr varScale="1">
        <p:scale>
          <a:sx n="103" d="100"/>
          <a:sy n="103" d="100"/>
        </p:scale>
        <p:origin x="1104" y="9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12/25/2024</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12/25/2024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7C4-2599-92EB-6413-904F2E403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054B3-774E-0309-D795-4380415E1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C8ABB-6904-9041-C126-C4B66A19AD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B80162-3D9E-F888-1340-C75D89E8663F}"/>
              </a:ext>
            </a:extLst>
          </p:cNvPr>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4083340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163C-F3A9-319B-222F-94D200D93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EC499-A117-2F20-49F3-7E71708F5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65AE2-C669-EAA5-F756-8A99635057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E1BAF7-DFDB-2B47-98BD-361DFDB06844}"/>
              </a:ext>
            </a:extLst>
          </p:cNvPr>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1916877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898FE-9BFA-F13F-A0EE-495A83AAA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04BE3-03DA-694D-47F4-0564998F1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DDF2B-2F31-52F5-4188-07CFC5D09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EFFF0E-C351-7600-A74F-5C46FC2E5E42}"/>
              </a:ext>
            </a:extLst>
          </p:cNvPr>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4233095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E0E12-1C18-C6CA-04AC-A92CF053F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89FC1-3E06-7395-E483-2AEACDC311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E520D-F51A-5AF1-211A-5767191B03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26AAC-6E12-2744-A331-3AF7BD640294}"/>
              </a:ext>
            </a:extLst>
          </p:cNvPr>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2589383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8F136-43CC-127B-B4B6-45A1C8C3A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C7D19-2321-B004-022C-A6FF3130B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C4102-412C-8AF3-8E2D-4B3BE2ECE5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8BE52-73D4-205D-19C9-3CB3D1A7095C}"/>
              </a:ext>
            </a:extLst>
          </p:cNvPr>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2062566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B7B50-2968-704C-7D1B-34BE2B049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81184-73B2-A649-8232-6624628C9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B956A-C1AE-343E-69A4-1BB9505148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BA05A7-1D3E-3580-F5C6-A427D264F238}"/>
              </a:ext>
            </a:extLst>
          </p:cNvPr>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2236066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EA1CC-B9AA-2EAD-7F19-8754F70E2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E4088-E8D2-B4CF-D872-C7C9420F5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B5CBD-6545-F172-FD60-26E0F8D015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281CD5-A15A-06EC-44EA-EC3533755D91}"/>
              </a:ext>
            </a:extLst>
          </p:cNvPr>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2948524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A334-8880-2DA7-37BC-2B306A6B4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B012B-04C7-EBDF-D47F-CC80B6ECD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4FDEF-28F4-FF2C-1E4E-EF34E46375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7B834C-35A9-43E5-D160-156F45CFCA4F}"/>
              </a:ext>
            </a:extLst>
          </p:cNvPr>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404270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E3375-3D4E-9184-A964-D1A234C8C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02250-10F9-DC01-8397-7BD98A961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2A421-28EF-2103-02AC-68188504B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EE2F9D-A995-47AA-8F74-5B0EBD521706}"/>
              </a:ext>
            </a:extLst>
          </p:cNvPr>
          <p:cNvSpPr>
            <a:spLocks noGrp="1"/>
          </p:cNvSpPr>
          <p:nvPr>
            <p:ph type="sldNum" sz="quarter" idx="5"/>
          </p:nvPr>
        </p:nvSpPr>
        <p:spPr/>
        <p:txBody>
          <a:bodyPr/>
          <a:lstStyle/>
          <a:p>
            <a:fld id="{F97DC217-DF71-1A49-B3EA-559F1F43B0FF}" type="slidenum">
              <a:rPr lang="en-US" smtClean="0"/>
              <a:t>20</a:t>
            </a:fld>
            <a:endParaRPr lang="en-US" dirty="0"/>
          </a:p>
        </p:txBody>
      </p:sp>
    </p:spTree>
    <p:extLst>
      <p:ext uri="{BB962C8B-B14F-4D97-AF65-F5344CB8AC3E}">
        <p14:creationId xmlns:p14="http://schemas.microsoft.com/office/powerpoint/2010/main" val="1230864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C1951-EB71-670F-0817-B5820ADFA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36F1C-9811-1C8D-1909-F6EF6D5AE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0B9B1-E7C6-488F-A0DA-023E858F0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4DF9D-A854-5905-E429-91A429F98349}"/>
              </a:ext>
            </a:extLst>
          </p:cNvPr>
          <p:cNvSpPr>
            <a:spLocks noGrp="1"/>
          </p:cNvSpPr>
          <p:nvPr>
            <p:ph type="sldNum" sz="quarter" idx="5"/>
          </p:nvPr>
        </p:nvSpPr>
        <p:spPr/>
        <p:txBody>
          <a:bodyPr/>
          <a:lstStyle/>
          <a:p>
            <a:fld id="{F97DC217-DF71-1A49-B3EA-559F1F43B0FF}" type="slidenum">
              <a:rPr lang="en-US" smtClean="0"/>
              <a:t>21</a:t>
            </a:fld>
            <a:endParaRPr lang="en-US" dirty="0"/>
          </a:p>
        </p:txBody>
      </p:sp>
    </p:spTree>
    <p:extLst>
      <p:ext uri="{BB962C8B-B14F-4D97-AF65-F5344CB8AC3E}">
        <p14:creationId xmlns:p14="http://schemas.microsoft.com/office/powerpoint/2010/main" val="3789129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225F8-7C32-9AD8-4E8C-B3ED7D46E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9C1FA-DC3D-95E9-E949-4418AFF10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BB632-FA9E-5980-4AC7-A5ECBB2E3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333ACC-7A71-97CE-7E61-F9B4233BFDC8}"/>
              </a:ext>
            </a:extLst>
          </p:cNvPr>
          <p:cNvSpPr>
            <a:spLocks noGrp="1"/>
          </p:cNvSpPr>
          <p:nvPr>
            <p:ph type="sldNum" sz="quarter" idx="5"/>
          </p:nvPr>
        </p:nvSpPr>
        <p:spPr/>
        <p:txBody>
          <a:bodyPr/>
          <a:lstStyle/>
          <a:p>
            <a:fld id="{F97DC217-DF71-1A49-B3EA-559F1F43B0FF}" type="slidenum">
              <a:rPr lang="en-US" smtClean="0"/>
              <a:t>22</a:t>
            </a:fld>
            <a:endParaRPr lang="en-US" dirty="0"/>
          </a:p>
        </p:txBody>
      </p:sp>
    </p:spTree>
    <p:extLst>
      <p:ext uri="{BB962C8B-B14F-4D97-AF65-F5344CB8AC3E}">
        <p14:creationId xmlns:p14="http://schemas.microsoft.com/office/powerpoint/2010/main" val="3334018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3FAD-9551-9B3C-52C2-9DAD2F8DF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0B7F2-4AE9-C3A7-7FB2-255C43F41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AB4329-4EB9-A5E3-A584-74B135D1DF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C0A50-CC8E-9F7E-C2D3-EE1555D1D948}"/>
              </a:ext>
            </a:extLst>
          </p:cNvPr>
          <p:cNvSpPr>
            <a:spLocks noGrp="1"/>
          </p:cNvSpPr>
          <p:nvPr>
            <p:ph type="sldNum" sz="quarter" idx="5"/>
          </p:nvPr>
        </p:nvSpPr>
        <p:spPr/>
        <p:txBody>
          <a:bodyPr/>
          <a:lstStyle/>
          <a:p>
            <a:fld id="{F97DC217-DF71-1A49-B3EA-559F1F43B0FF}" type="slidenum">
              <a:rPr lang="en-US" smtClean="0"/>
              <a:t>23</a:t>
            </a:fld>
            <a:endParaRPr lang="en-US" dirty="0"/>
          </a:p>
        </p:txBody>
      </p:sp>
    </p:spTree>
    <p:extLst>
      <p:ext uri="{BB962C8B-B14F-4D97-AF65-F5344CB8AC3E}">
        <p14:creationId xmlns:p14="http://schemas.microsoft.com/office/powerpoint/2010/main" val="3794662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0981-9E13-0C0A-9B57-402FBBFB7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33E2E-6A5F-93D0-4B2E-F94B2975F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0023C-5EBE-D47C-CE66-EC6226EA93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1FFA85-8D76-47B3-3E3F-B193D2E5A2C5}"/>
              </a:ext>
            </a:extLst>
          </p:cNvPr>
          <p:cNvSpPr>
            <a:spLocks noGrp="1"/>
          </p:cNvSpPr>
          <p:nvPr>
            <p:ph type="sldNum" sz="quarter" idx="5"/>
          </p:nvPr>
        </p:nvSpPr>
        <p:spPr/>
        <p:txBody>
          <a:bodyPr/>
          <a:lstStyle/>
          <a:p>
            <a:fld id="{F97DC217-DF71-1A49-B3EA-559F1F43B0FF}" type="slidenum">
              <a:rPr lang="en-US" smtClean="0"/>
              <a:t>24</a:t>
            </a:fld>
            <a:endParaRPr lang="en-US" dirty="0"/>
          </a:p>
        </p:txBody>
      </p:sp>
    </p:spTree>
    <p:extLst>
      <p:ext uri="{BB962C8B-B14F-4D97-AF65-F5344CB8AC3E}">
        <p14:creationId xmlns:p14="http://schemas.microsoft.com/office/powerpoint/2010/main" val="27778149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3596D-B984-69DF-0EDA-7544752D8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2FFD7-B196-6769-7487-99C3B0A06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8292A-7663-2FBE-06AC-16D7E6BCE1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B4DD0D-61E5-A100-879A-72AEFE037D0C}"/>
              </a:ext>
            </a:extLst>
          </p:cNvPr>
          <p:cNvSpPr>
            <a:spLocks noGrp="1"/>
          </p:cNvSpPr>
          <p:nvPr>
            <p:ph type="sldNum" sz="quarter" idx="5"/>
          </p:nvPr>
        </p:nvSpPr>
        <p:spPr/>
        <p:txBody>
          <a:bodyPr/>
          <a:lstStyle/>
          <a:p>
            <a:fld id="{F97DC217-DF71-1A49-B3EA-559F1F43B0FF}" type="slidenum">
              <a:rPr lang="en-US" smtClean="0"/>
              <a:t>25</a:t>
            </a:fld>
            <a:endParaRPr lang="en-US" dirty="0"/>
          </a:p>
        </p:txBody>
      </p:sp>
    </p:spTree>
    <p:extLst>
      <p:ext uri="{BB962C8B-B14F-4D97-AF65-F5344CB8AC3E}">
        <p14:creationId xmlns:p14="http://schemas.microsoft.com/office/powerpoint/2010/main" val="11454877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501EA-3EF2-CB49-A914-C1C6B0E09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310BC-33D5-5222-502E-FE49C6DFF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B8EF4-40AA-6392-C012-C7BA38E84F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ED846-B478-8651-D32E-400FB2339DE9}"/>
              </a:ext>
            </a:extLst>
          </p:cNvPr>
          <p:cNvSpPr>
            <a:spLocks noGrp="1"/>
          </p:cNvSpPr>
          <p:nvPr>
            <p:ph type="sldNum" sz="quarter" idx="5"/>
          </p:nvPr>
        </p:nvSpPr>
        <p:spPr/>
        <p:txBody>
          <a:bodyPr/>
          <a:lstStyle/>
          <a:p>
            <a:fld id="{F97DC217-DF71-1A49-B3EA-559F1F43B0FF}" type="slidenum">
              <a:rPr lang="en-US" smtClean="0"/>
              <a:t>26</a:t>
            </a:fld>
            <a:endParaRPr lang="en-US" dirty="0"/>
          </a:p>
        </p:txBody>
      </p:sp>
    </p:spTree>
    <p:extLst>
      <p:ext uri="{BB962C8B-B14F-4D97-AF65-F5344CB8AC3E}">
        <p14:creationId xmlns:p14="http://schemas.microsoft.com/office/powerpoint/2010/main" val="4049034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5F625-3764-E7BD-6765-09F2B8F2A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C5621-3D16-61D9-3B3F-54EA7BC6F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FA0AC-BFBB-46D1-1786-8891B0E2AF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3E3A24-2970-1B05-5644-434B615F5FA7}"/>
              </a:ext>
            </a:extLst>
          </p:cNvPr>
          <p:cNvSpPr>
            <a:spLocks noGrp="1"/>
          </p:cNvSpPr>
          <p:nvPr>
            <p:ph type="sldNum" sz="quarter" idx="5"/>
          </p:nvPr>
        </p:nvSpPr>
        <p:spPr/>
        <p:txBody>
          <a:bodyPr/>
          <a:lstStyle/>
          <a:p>
            <a:fld id="{F97DC217-DF71-1A49-B3EA-559F1F43B0FF}" type="slidenum">
              <a:rPr lang="en-US" smtClean="0"/>
              <a:t>27</a:t>
            </a:fld>
            <a:endParaRPr lang="en-US" dirty="0"/>
          </a:p>
        </p:txBody>
      </p:sp>
    </p:spTree>
    <p:extLst>
      <p:ext uri="{BB962C8B-B14F-4D97-AF65-F5344CB8AC3E}">
        <p14:creationId xmlns:p14="http://schemas.microsoft.com/office/powerpoint/2010/main" val="4259208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84804-1113-AD1A-DCB0-B5455326C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4B93F-C2FB-F88A-15F5-5F3FA6A44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F056B-B562-4E3C-F911-D7D8999F18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CEACF6-FEBC-0429-987C-166F898AEF00}"/>
              </a:ext>
            </a:extLst>
          </p:cNvPr>
          <p:cNvSpPr>
            <a:spLocks noGrp="1"/>
          </p:cNvSpPr>
          <p:nvPr>
            <p:ph type="sldNum" sz="quarter" idx="5"/>
          </p:nvPr>
        </p:nvSpPr>
        <p:spPr/>
        <p:txBody>
          <a:bodyPr/>
          <a:lstStyle/>
          <a:p>
            <a:fld id="{F97DC217-DF71-1A49-B3EA-559F1F43B0FF}" type="slidenum">
              <a:rPr lang="en-US" smtClean="0"/>
              <a:t>28</a:t>
            </a:fld>
            <a:endParaRPr lang="en-US" dirty="0"/>
          </a:p>
        </p:txBody>
      </p:sp>
    </p:spTree>
    <p:extLst>
      <p:ext uri="{BB962C8B-B14F-4D97-AF65-F5344CB8AC3E}">
        <p14:creationId xmlns:p14="http://schemas.microsoft.com/office/powerpoint/2010/main" val="896194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EEEC-7247-90CA-EAB6-C802617BF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03AB2-338A-64B4-B172-7E446886F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F7283-597E-A7EB-D53D-53B8B352C3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001816-C5F8-50C6-C635-8C17785194AF}"/>
              </a:ext>
            </a:extLst>
          </p:cNvPr>
          <p:cNvSpPr>
            <a:spLocks noGrp="1"/>
          </p:cNvSpPr>
          <p:nvPr>
            <p:ph type="sldNum" sz="quarter" idx="5"/>
          </p:nvPr>
        </p:nvSpPr>
        <p:spPr/>
        <p:txBody>
          <a:bodyPr/>
          <a:lstStyle/>
          <a:p>
            <a:fld id="{F97DC217-DF71-1A49-B3EA-559F1F43B0FF}" type="slidenum">
              <a:rPr lang="en-US" smtClean="0"/>
              <a:t>29</a:t>
            </a:fld>
            <a:endParaRPr lang="en-US" dirty="0"/>
          </a:p>
        </p:txBody>
      </p:sp>
    </p:spTree>
    <p:extLst>
      <p:ext uri="{BB962C8B-B14F-4D97-AF65-F5344CB8AC3E}">
        <p14:creationId xmlns:p14="http://schemas.microsoft.com/office/powerpoint/2010/main" val="5922732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30</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31</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microsoft.com/office/2007/relationships/hdphoto" Target="../media/hdphoto4.wdp"/></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microsoft.com/office/2007/relationships/hdphoto" Target="../media/hdphoto4.wdp"/></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microsoft.com/office/2007/relationships/hdphoto" Target="../media/hdphoto6.wdp"/></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microsoft.com/office/2007/relationships/hdphoto" Target="../media/hdphoto7.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mailto:sathiyanuc@gmail.com" TargetMode="External"/><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hyperlink" Target="https://github.com/Sathiyan2114/DataSpark_GlobalElectronics/tree/main" TargetMode="External"/><Relationship Id="rId4" Type="http://schemas.openxmlformats.org/officeDocument/2006/relationships/hyperlink" Target="http://www.linkedin.com/in/sathiyanu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sz="5400" dirty="0"/>
              <a:t>DataSpark: Illuminating Insights for Global Electronics</a:t>
            </a:r>
          </a:p>
        </p:txBody>
      </p:sp>
      <p:sp>
        <p:nvSpPr>
          <p:cNvPr id="3" name="TextBox 2">
            <a:extLst>
              <a:ext uri="{FF2B5EF4-FFF2-40B4-BE49-F238E27FC236}">
                <a16:creationId xmlns:a16="http://schemas.microsoft.com/office/drawing/2014/main" id="{A3818415-8509-1DD4-AF77-F50F185D1262}"/>
              </a:ext>
            </a:extLst>
          </p:cNvPr>
          <p:cNvSpPr txBox="1"/>
          <p:nvPr/>
        </p:nvSpPr>
        <p:spPr>
          <a:xfrm>
            <a:off x="7641770" y="4926563"/>
            <a:ext cx="2939143" cy="369332"/>
          </a:xfrm>
          <a:prstGeom prst="rect">
            <a:avLst/>
          </a:prstGeom>
          <a:noFill/>
        </p:spPr>
        <p:txBody>
          <a:bodyPr wrap="square" rtlCol="0">
            <a:spAutoFit/>
          </a:bodyPr>
          <a:lstStyle/>
          <a:p>
            <a:r>
              <a:rPr lang="en-IN" dirty="0"/>
              <a:t>Done by: Sathiyan U C</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341984"/>
            <a:ext cx="9779182" cy="3042298"/>
          </a:xfrm>
        </p:spPr>
        <p:txBody>
          <a:bodyPr vert="horz" lIns="91440" tIns="45720" rIns="91440" bIns="45720" rtlCol="0" anchor="t">
            <a:normAutofit/>
          </a:bodyPr>
          <a:lstStyle/>
          <a:p>
            <a:r>
              <a:rPr lang="en-US" dirty="0"/>
              <a:t>Introduction</a:t>
            </a:r>
          </a:p>
          <a:p>
            <a:r>
              <a:rPr lang="en-US" dirty="0"/>
              <a:t>Problem Statement</a:t>
            </a:r>
          </a:p>
          <a:p>
            <a:r>
              <a:rPr lang="en-US" dirty="0"/>
              <a:t>Steps</a:t>
            </a:r>
          </a:p>
          <a:p>
            <a:r>
              <a:rPr lang="en-US" dirty="0"/>
              <a:t>Tips</a:t>
            </a:r>
          </a:p>
          <a:p>
            <a:r>
              <a:rPr lang="en-US" dirty="0"/>
              <a:t>Conclusion</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5486400" cy="4114800"/>
          </a:xfrm>
        </p:spPr>
        <p:txBody>
          <a:bodyPr/>
          <a:lstStyle/>
          <a:p>
            <a:r>
              <a:rPr lang="en-US" dirty="0"/>
              <a:t>Introduction</a:t>
            </a:r>
          </a:p>
        </p:txBody>
      </p:sp>
      <p:pic>
        <p:nvPicPr>
          <p:cNvPr id="10" name="Picture Placeholder 9">
            <a:extLst>
              <a:ext uri="{FF2B5EF4-FFF2-40B4-BE49-F238E27FC236}">
                <a16:creationId xmlns:a16="http://schemas.microsoft.com/office/drawing/2014/main" id="{FCA2FB5B-570E-D181-A4B1-1DCB61C08948}"/>
              </a:ext>
            </a:extLst>
          </p:cNvPr>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aturation sat="66000"/>
                    </a14:imgEffect>
                  </a14:imgLayer>
                </a14:imgProps>
              </a:ext>
            </a:extLst>
          </a:blip>
          <a:srcRect l="228" r="228"/>
          <a:stretch/>
        </p:blipFill>
        <p:spPr>
          <a:xfrm>
            <a:off x="7183438" y="1168400"/>
            <a:ext cx="4500562" cy="4521200"/>
          </a:xfrm>
        </p:spPr>
      </p:pic>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a:lstStyle/>
          <a:p>
            <a:r>
              <a:rPr lang="en-US" dirty="0"/>
              <a:t>Introduction to the company</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1166813" y="3069771"/>
            <a:ext cx="9780587" cy="3019879"/>
          </a:xfrm>
        </p:spPr>
        <p:txBody>
          <a:bodyPr>
            <a:normAutofit/>
          </a:bodyPr>
          <a:lstStyle/>
          <a:p>
            <a:r>
              <a:rPr lang="en-US" dirty="0"/>
              <a:t>Global Electronics, a leading retailer of consumer electronics, has provided you with several comprehensive datasets containing detailed information about their customers, products, sales, stores, and currency exchange rates.</a:t>
            </a:r>
          </a:p>
          <a:p>
            <a:r>
              <a:rPr lang="en-US" dirty="0"/>
              <a:t>The company seeks to leverage this rich data repository to gain deeper insights into their business operations, customer behavior, and market trends.</a:t>
            </a:r>
          </a:p>
        </p:txBody>
      </p:sp>
    </p:spTree>
    <p:extLst>
      <p:ext uri="{BB962C8B-B14F-4D97-AF65-F5344CB8AC3E}">
        <p14:creationId xmlns:p14="http://schemas.microsoft.com/office/powerpoint/2010/main" val="2529338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5859624" y="1157224"/>
            <a:ext cx="5120640" cy="3200400"/>
          </a:xfrm>
        </p:spPr>
        <p:txBody>
          <a:bodyPr/>
          <a:lstStyle/>
          <a:p>
            <a:r>
              <a:rPr lang="en-US" dirty="0"/>
              <a:t>Problem Statement</a:t>
            </a:r>
          </a:p>
        </p:txBody>
      </p:sp>
      <p:pic>
        <p:nvPicPr>
          <p:cNvPr id="17" name="Picture Placeholder 16">
            <a:extLst>
              <a:ext uri="{FF2B5EF4-FFF2-40B4-BE49-F238E27FC236}">
                <a16:creationId xmlns:a16="http://schemas.microsoft.com/office/drawing/2014/main" id="{2ECBBDA4-D2C1-0F46-BA36-5967266F87AD}"/>
              </a:ext>
            </a:extLst>
          </p:cNvPr>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Layer>
                </a14:imgProps>
              </a:ext>
            </a:extLst>
          </a:blip>
          <a:srcRect l="228" r="228"/>
          <a:stretch/>
        </p:blipFill>
        <p:spPr>
          <a:xfrm>
            <a:off x="904238" y="1157224"/>
            <a:ext cx="4500562" cy="4521200"/>
          </a:xfrm>
          <a:solidFill>
            <a:schemeClr val="tx1"/>
          </a:solidFill>
        </p:spPr>
      </p:pic>
    </p:spTree>
    <p:extLst>
      <p:ext uri="{BB962C8B-B14F-4D97-AF65-F5344CB8AC3E}">
        <p14:creationId xmlns:p14="http://schemas.microsoft.com/office/powerpoint/2010/main" val="77975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a:lstStyle/>
          <a:p>
            <a:r>
              <a:rPr lang="en-US" dirty="0"/>
              <a:t>Problem Statement &amp; Use Cases</a:t>
            </a: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7493" y="2023984"/>
            <a:ext cx="4663440" cy="3332831"/>
          </a:xfrm>
        </p:spPr>
        <p:txBody>
          <a:bodyPr/>
          <a:lstStyle/>
          <a:p>
            <a:r>
              <a:rPr lang="en-US" b="1" dirty="0"/>
              <a:t>Problem Statement</a:t>
            </a:r>
          </a:p>
          <a:p>
            <a:pPr marL="285750" indent="-285750">
              <a:buFont typeface="Arial" panose="020B0604020202020204" pitchFamily="34" charset="0"/>
              <a:buChar char="•"/>
            </a:pPr>
            <a:r>
              <a:rPr lang="en-US" sz="1400" b="0" i="0" u="none" strike="noStrike" dirty="0">
                <a:solidFill>
                  <a:srgbClr val="000000"/>
                </a:solidFill>
                <a:effectLst/>
                <a:latin typeface="Arial" panose="020B0604020202020204" pitchFamily="34" charset="0"/>
              </a:rPr>
              <a:t>As part of Global Electronics' data analytics team, you are tasked with conducting a comprehensive Exploratory Data Analysis (EDA) to uncover valuable insights from the company’s data. </a:t>
            </a:r>
          </a:p>
          <a:p>
            <a:pPr marL="285750" indent="-285750">
              <a:buFont typeface="Arial" panose="020B0604020202020204" pitchFamily="34" charset="0"/>
              <a:buChar char="•"/>
            </a:pPr>
            <a:r>
              <a:rPr lang="en-US" sz="1400" b="0" i="0" u="none" strike="noStrike" dirty="0">
                <a:solidFill>
                  <a:srgbClr val="000000"/>
                </a:solidFill>
                <a:effectLst/>
                <a:latin typeface="Arial" panose="020B0604020202020204" pitchFamily="34" charset="0"/>
              </a:rPr>
              <a:t>Your goal is to provide actionable recommendations that can enhance customer satisfaction, optimize operations, and drive overall business growth.</a:t>
            </a:r>
            <a:endParaRPr lang="en-US" sz="1400" dirty="0"/>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0"/>
          </p:nvPr>
        </p:nvSpPr>
        <p:spPr>
          <a:xfrm>
            <a:off x="6283235" y="2023984"/>
            <a:ext cx="4663440" cy="3332832"/>
          </a:xfrm>
        </p:spPr>
        <p:txBody>
          <a:bodyPr>
            <a:normAutofit/>
          </a:bodyPr>
          <a:lstStyle/>
          <a:p>
            <a:r>
              <a:rPr lang="en-US" b="1" dirty="0"/>
              <a:t>Business Use Cases</a:t>
            </a:r>
          </a:p>
          <a:p>
            <a:pPr marL="285750" indent="-285750">
              <a:buFont typeface="Arial" panose="020B0604020202020204" pitchFamily="34" charset="0"/>
              <a:buChar char="•"/>
            </a:pPr>
            <a:r>
              <a:rPr lang="en-US" sz="1400" b="0" i="0" u="none" strike="noStrike" dirty="0">
                <a:solidFill>
                  <a:srgbClr val="000000"/>
                </a:solidFill>
                <a:effectLst/>
                <a:latin typeface="Arial" panose="020B0604020202020204" pitchFamily="34" charset="0"/>
              </a:rPr>
              <a:t>By Analyzing Global Electronics' customer, product, sales, and store data will provide insights to enhance marketing strategies, optimize inventory management, and improve sales forecasting. </a:t>
            </a:r>
          </a:p>
          <a:p>
            <a:pPr marL="285750" indent="-285750">
              <a:buFont typeface="Arial" panose="020B0604020202020204" pitchFamily="34" charset="0"/>
              <a:buChar char="•"/>
            </a:pPr>
            <a:r>
              <a:rPr lang="en-US" sz="1400" b="0" i="0" u="none" strike="noStrike" dirty="0">
                <a:solidFill>
                  <a:srgbClr val="000000"/>
                </a:solidFill>
                <a:effectLst/>
                <a:latin typeface="Arial" panose="020B0604020202020204" pitchFamily="34" charset="0"/>
              </a:rPr>
              <a:t>This will help tailor campaigns, develop better products, plan promotions, and decide store expansions. Understanding currency exchange rates will enable better international pricing strategies.</a:t>
            </a:r>
            <a:endParaRPr lang="en-US" sz="1400" dirty="0"/>
          </a:p>
        </p:txBody>
      </p:sp>
    </p:spTree>
    <p:extLst>
      <p:ext uri="{BB962C8B-B14F-4D97-AF65-F5344CB8AC3E}">
        <p14:creationId xmlns:p14="http://schemas.microsoft.com/office/powerpoint/2010/main" val="1265939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ctrTitle"/>
          </p:nvPr>
        </p:nvSpPr>
        <p:spPr>
          <a:xfrm>
            <a:off x="1167494" y="177553"/>
            <a:ext cx="6245912" cy="3269447"/>
          </a:xfrm>
          <a:noFill/>
        </p:spPr>
        <p:txBody>
          <a:bodyPr/>
          <a:lstStyle/>
          <a:p>
            <a:r>
              <a:rPr lang="en-US" dirty="0">
                <a:solidFill>
                  <a:schemeClr val="tx1"/>
                </a:solidFill>
              </a:rPr>
              <a:t>Steps</a:t>
            </a:r>
          </a:p>
        </p:txBody>
      </p:sp>
      <p:sp>
        <p:nvSpPr>
          <p:cNvPr id="3" name="Subtitle 2">
            <a:extLst>
              <a:ext uri="{FF2B5EF4-FFF2-40B4-BE49-F238E27FC236}">
                <a16:creationId xmlns:a16="http://schemas.microsoft.com/office/drawing/2014/main" id="{C62C8177-F0B6-B02C-3682-183D8307E999}"/>
              </a:ext>
            </a:extLst>
          </p:cNvPr>
          <p:cNvSpPr>
            <a:spLocks noGrp="1"/>
          </p:cNvSpPr>
          <p:nvPr>
            <p:ph type="subTitle" idx="1"/>
          </p:nvPr>
        </p:nvSpPr>
        <p:spPr>
          <a:xfrm>
            <a:off x="1167494" y="3492896"/>
            <a:ext cx="6245912" cy="912850"/>
          </a:xfrm>
        </p:spPr>
        <p:txBody>
          <a:bodyPr/>
          <a:lstStyle/>
          <a:p>
            <a:r>
              <a:rPr lang="en-US" dirty="0"/>
              <a:t>Involved in this project</a:t>
            </a:r>
          </a:p>
        </p:txBody>
      </p:sp>
    </p:spTree>
    <p:extLst>
      <p:ext uri="{BB962C8B-B14F-4D97-AF65-F5344CB8AC3E}">
        <p14:creationId xmlns:p14="http://schemas.microsoft.com/office/powerpoint/2010/main" val="4117153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779183" cy="1706563"/>
          </a:xfrm>
        </p:spPr>
        <p:txBody>
          <a:bodyPr/>
          <a:lstStyle/>
          <a:p>
            <a:pPr algn="ctr"/>
            <a:r>
              <a:rPr lang="en-US" dirty="0">
                <a:solidFill>
                  <a:schemeClr val="tx1"/>
                </a:solidFill>
              </a:rPr>
              <a:t>Steps</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2"/>
          </p:nvPr>
        </p:nvSpPr>
        <p:spPr>
          <a:xfrm>
            <a:off x="3763962" y="1996071"/>
            <a:ext cx="4664075" cy="3332162"/>
          </a:xfrm>
        </p:spPr>
        <p:txBody>
          <a:bodyPr>
            <a:normAutofit/>
          </a:bodyPr>
          <a:lstStyle/>
          <a:p>
            <a:pPr algn="just"/>
            <a:r>
              <a:rPr lang="en-US" dirty="0"/>
              <a:t>Dataset Review</a:t>
            </a:r>
          </a:p>
          <a:p>
            <a:pPr algn="just"/>
            <a:r>
              <a:rPr lang="en-US" dirty="0"/>
              <a:t>Data Preprocessing</a:t>
            </a:r>
          </a:p>
          <a:p>
            <a:pPr algn="just"/>
            <a:r>
              <a:rPr lang="en-US" dirty="0"/>
              <a:t>Exploratory Data Analysis(EDA)</a:t>
            </a:r>
          </a:p>
          <a:p>
            <a:pPr algn="just"/>
            <a:r>
              <a:rPr lang="en-US" dirty="0"/>
              <a:t>Importing data &amp; creating queries in SQL</a:t>
            </a:r>
          </a:p>
          <a:p>
            <a:pPr algn="just"/>
            <a:r>
              <a:rPr lang="en-US" dirty="0"/>
              <a:t>Data Visualization</a:t>
            </a:r>
          </a:p>
        </p:txBody>
      </p:sp>
    </p:spTree>
    <p:extLst>
      <p:ext uri="{BB962C8B-B14F-4D97-AF65-F5344CB8AC3E}">
        <p14:creationId xmlns:p14="http://schemas.microsoft.com/office/powerpoint/2010/main" val="265210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Step 1: Dataset Review </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5394325" cy="3436937"/>
          </a:xfrm>
        </p:spPr>
        <p:txBody>
          <a:bodyPr/>
          <a:lstStyle/>
          <a:p>
            <a:r>
              <a:rPr lang="en-US" dirty="0"/>
              <a:t>Company has provided five datasets,</a:t>
            </a:r>
          </a:p>
          <a:p>
            <a:r>
              <a:rPr lang="en-US" dirty="0"/>
              <a:t>They are,</a:t>
            </a:r>
          </a:p>
          <a:p>
            <a:pPr marL="342900" indent="-342900">
              <a:buFont typeface="Arial" panose="020B0604020202020204" pitchFamily="34" charset="0"/>
              <a:buChar char="•"/>
            </a:pPr>
            <a:r>
              <a:rPr lang="en-US" dirty="0"/>
              <a:t>Customers Dataset</a:t>
            </a:r>
          </a:p>
          <a:p>
            <a:pPr marL="342900" indent="-342900">
              <a:buFont typeface="Arial" panose="020B0604020202020204" pitchFamily="34" charset="0"/>
              <a:buChar char="•"/>
            </a:pPr>
            <a:r>
              <a:rPr lang="en-US" dirty="0"/>
              <a:t>Products Dataset</a:t>
            </a:r>
          </a:p>
          <a:p>
            <a:pPr marL="342900" indent="-342900">
              <a:buFont typeface="Arial" panose="020B0604020202020204" pitchFamily="34" charset="0"/>
              <a:buChar char="•"/>
            </a:pPr>
            <a:r>
              <a:rPr lang="en-US" dirty="0"/>
              <a:t>Sales Dataset</a:t>
            </a:r>
          </a:p>
          <a:p>
            <a:pPr marL="342900" indent="-342900">
              <a:buFont typeface="Arial" panose="020B0604020202020204" pitchFamily="34" charset="0"/>
              <a:buChar char="•"/>
            </a:pPr>
            <a:r>
              <a:rPr lang="en-US" dirty="0"/>
              <a:t>Stores Dataset</a:t>
            </a:r>
          </a:p>
          <a:p>
            <a:pPr marL="342900" indent="-342900">
              <a:buFont typeface="Arial" panose="020B0604020202020204" pitchFamily="34" charset="0"/>
              <a:buChar char="•"/>
            </a:pPr>
            <a:r>
              <a:rPr lang="en-US" dirty="0"/>
              <a:t>Exchange Rates dataset</a:t>
            </a:r>
          </a:p>
          <a:p>
            <a:pPr marL="342900" indent="-342900">
              <a:buFont typeface="Arial" panose="020B0604020202020204" pitchFamily="34" charset="0"/>
              <a:buChar char="•"/>
            </a:pPr>
            <a:endParaRPr lang="en-US" dirty="0"/>
          </a:p>
        </p:txBody>
      </p:sp>
      <p:pic>
        <p:nvPicPr>
          <p:cNvPr id="25" name="Picture Placeholder 24">
            <a:extLst>
              <a:ext uri="{FF2B5EF4-FFF2-40B4-BE49-F238E27FC236}">
                <a16:creationId xmlns:a16="http://schemas.microsoft.com/office/drawing/2014/main" id="{E57751D1-D655-B1C0-2407-A8826F551024}"/>
              </a:ext>
            </a:extLst>
          </p:cNvPr>
          <p:cNvPicPr>
            <a:picLocks noGrp="1" noChangeAspect="1"/>
          </p:cNvPicPr>
          <p:nvPr>
            <p:ph type="pic" sz="quarter" idx="14"/>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a:stretch/>
        </p:blipFill>
        <p:spPr>
          <a:xfrm>
            <a:off x="7317920" y="1447800"/>
            <a:ext cx="4214010" cy="4214010"/>
          </a:xfrm>
        </p:spPr>
      </p:pic>
    </p:spTree>
    <p:extLst>
      <p:ext uri="{BB962C8B-B14F-4D97-AF65-F5344CB8AC3E}">
        <p14:creationId xmlns:p14="http://schemas.microsoft.com/office/powerpoint/2010/main" val="36264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1167492" y="457200"/>
            <a:ext cx="9692640" cy="1371600"/>
          </a:xfrm>
        </p:spPr>
        <p:txBody>
          <a:bodyPr/>
          <a:lstStyle/>
          <a:p>
            <a:r>
              <a:rPr lang="en-US" dirty="0"/>
              <a:t>Dataset Review</a:t>
            </a:r>
          </a:p>
        </p:txBody>
      </p:sp>
      <p:sp>
        <p:nvSpPr>
          <p:cNvPr id="4" name="Content Placeholder 3">
            <a:extLst>
              <a:ext uri="{FF2B5EF4-FFF2-40B4-BE49-F238E27FC236}">
                <a16:creationId xmlns:a16="http://schemas.microsoft.com/office/drawing/2014/main" id="{EAE9A705-E123-1C6C-EC93-CEE377B741CC}"/>
              </a:ext>
            </a:extLst>
          </p:cNvPr>
          <p:cNvSpPr>
            <a:spLocks noGrp="1"/>
          </p:cNvSpPr>
          <p:nvPr>
            <p:ph idx="10"/>
          </p:nvPr>
        </p:nvSpPr>
        <p:spPr>
          <a:xfrm>
            <a:off x="1167492" y="2087561"/>
            <a:ext cx="4928507" cy="3890543"/>
          </a:xfrm>
        </p:spPr>
        <p:txBody>
          <a:bodyPr/>
          <a:lstStyle/>
          <a:p>
            <a:r>
              <a:rPr lang="en-US" dirty="0"/>
              <a:t>Customers Dataset Review</a:t>
            </a:r>
          </a:p>
          <a:p>
            <a:pPr marL="342900" indent="-342900">
              <a:buFont typeface="Arial" panose="020B0604020202020204" pitchFamily="34" charset="0"/>
              <a:buChar char="•"/>
            </a:pPr>
            <a:r>
              <a:rPr lang="en-US" sz="1600" dirty="0"/>
              <a:t>There are 7748 male Consumers &amp; 7518 female consumers are consuming products in Global Electronics.</a:t>
            </a:r>
          </a:p>
          <a:p>
            <a:pPr marL="342900" indent="-342900">
              <a:buFont typeface="Arial" panose="020B0604020202020204" pitchFamily="34" charset="0"/>
              <a:buChar char="•"/>
            </a:pPr>
            <a:r>
              <a:rPr lang="en-US" sz="1600" dirty="0"/>
              <a:t>US has the highest customers of around 6282 among all other countries.</a:t>
            </a:r>
          </a:p>
          <a:p>
            <a:r>
              <a:rPr lang="en-US" dirty="0"/>
              <a:t>Products Dataset Review</a:t>
            </a:r>
          </a:p>
          <a:p>
            <a:pPr marL="342900" indent="-342900">
              <a:buFont typeface="Arial" panose="020B0604020202020204" pitchFamily="34" charset="0"/>
              <a:buChar char="•"/>
            </a:pPr>
            <a:r>
              <a:rPr lang="en-US" sz="1600" dirty="0"/>
              <a:t>There are 2517 products available in Global Electronics with 11 brands and 16 color categories.</a:t>
            </a:r>
          </a:p>
          <a:p>
            <a:r>
              <a:rPr lang="en-US" dirty="0"/>
              <a:t>Sales Dataset Review</a:t>
            </a:r>
          </a:p>
          <a:p>
            <a:pPr marL="342900" indent="-342900">
              <a:buFont typeface="Arial" panose="020B0604020202020204" pitchFamily="34" charset="0"/>
              <a:buChar char="•"/>
            </a:pPr>
            <a:r>
              <a:rPr lang="en-US" sz="1600" dirty="0"/>
              <a:t>Total sales happened in Global Electronics are 62815.</a:t>
            </a:r>
          </a:p>
          <a:p>
            <a:endParaRPr lang="en-US" dirty="0"/>
          </a:p>
        </p:txBody>
      </p:sp>
      <p:sp>
        <p:nvSpPr>
          <p:cNvPr id="7" name="Content Placeholder 3">
            <a:extLst>
              <a:ext uri="{FF2B5EF4-FFF2-40B4-BE49-F238E27FC236}">
                <a16:creationId xmlns:a16="http://schemas.microsoft.com/office/drawing/2014/main" id="{47D5C8F5-E245-ECA7-6488-EA7BA5BB7775}"/>
              </a:ext>
            </a:extLst>
          </p:cNvPr>
          <p:cNvSpPr txBox="1">
            <a:spLocks/>
          </p:cNvSpPr>
          <p:nvPr/>
        </p:nvSpPr>
        <p:spPr>
          <a:xfrm>
            <a:off x="6013812" y="2087560"/>
            <a:ext cx="4928507" cy="389054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Stores Dataset Review</a:t>
            </a:r>
          </a:p>
          <a:p>
            <a:pPr marL="342900" indent="-342900">
              <a:buFont typeface="Arial" panose="020B0604020202020204" pitchFamily="34" charset="0"/>
              <a:buChar char="•"/>
            </a:pPr>
            <a:r>
              <a:rPr lang="en-US" sz="1600" dirty="0"/>
              <a:t>Global Electronics having 67 stores in 7 countries and 1 online store.</a:t>
            </a:r>
          </a:p>
          <a:p>
            <a:pPr marL="342900" indent="-342900">
              <a:buFont typeface="Arial" panose="020B0604020202020204" pitchFamily="34" charset="0"/>
              <a:buChar char="•"/>
            </a:pPr>
            <a:r>
              <a:rPr lang="en-US" sz="1600" dirty="0"/>
              <a:t>US has the highest stores of around 24 stores.</a:t>
            </a:r>
          </a:p>
          <a:p>
            <a:r>
              <a:rPr lang="en-US" dirty="0"/>
              <a:t>Exchange Rates Dataset Review</a:t>
            </a:r>
          </a:p>
          <a:p>
            <a:pPr marL="342900" indent="-342900">
              <a:buFont typeface="Arial" panose="020B0604020202020204" pitchFamily="34" charset="0"/>
              <a:buChar char="•"/>
            </a:pPr>
            <a:r>
              <a:rPr lang="en-US" sz="1600" dirty="0"/>
              <a:t>As we know that Global Electronics is an MNC which handling around 7 countries with 6 exchange rates(currency code) namely:</a:t>
            </a:r>
          </a:p>
          <a:p>
            <a:pPr marL="800100" lvl="1" indent="-342900">
              <a:buFont typeface="Arial" panose="020B0604020202020204" pitchFamily="34" charset="0"/>
              <a:buChar char="•"/>
            </a:pPr>
            <a:r>
              <a:rPr lang="en-US" sz="1600" dirty="0"/>
              <a:t>USD(US Dollars)</a:t>
            </a:r>
          </a:p>
          <a:p>
            <a:pPr marL="800100" lvl="1" indent="-342900">
              <a:buFont typeface="Arial" panose="020B0604020202020204" pitchFamily="34" charset="0"/>
              <a:buChar char="•"/>
            </a:pPr>
            <a:r>
              <a:rPr lang="en-US" sz="1600" dirty="0"/>
              <a:t>EUR(Euro)</a:t>
            </a:r>
          </a:p>
          <a:p>
            <a:pPr marL="800100" lvl="1" indent="-342900">
              <a:buFont typeface="Arial" panose="020B0604020202020204" pitchFamily="34" charset="0"/>
              <a:buChar char="•"/>
            </a:pPr>
            <a:r>
              <a:rPr lang="en-US" sz="1600" dirty="0"/>
              <a:t>GBP(Pound Sterling UK)</a:t>
            </a:r>
          </a:p>
          <a:p>
            <a:pPr marL="800100" lvl="1" indent="-342900">
              <a:buFont typeface="Arial" panose="020B0604020202020204" pitchFamily="34" charset="0"/>
              <a:buChar char="•"/>
            </a:pPr>
            <a:r>
              <a:rPr lang="en-US" sz="1600" dirty="0"/>
              <a:t>CAD(Canadian Dollars)</a:t>
            </a:r>
          </a:p>
          <a:p>
            <a:pPr marL="800100" lvl="1" indent="-342900">
              <a:buFont typeface="Arial" panose="020B0604020202020204" pitchFamily="34" charset="0"/>
              <a:buChar char="•"/>
            </a:pPr>
            <a:r>
              <a:rPr lang="en-US" sz="1600" dirty="0"/>
              <a:t>AUD(Australian Dollars)</a:t>
            </a:r>
          </a:p>
          <a:p>
            <a:endParaRPr lang="en-US" dirty="0"/>
          </a:p>
        </p:txBody>
      </p:sp>
    </p:spTree>
    <p:extLst>
      <p:ext uri="{BB962C8B-B14F-4D97-AF65-F5344CB8AC3E}">
        <p14:creationId xmlns:p14="http://schemas.microsoft.com/office/powerpoint/2010/main" val="907915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948AC-E28A-F760-1557-071D35EBC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DEEA2-0DDF-7769-1DC5-F7CDDA48A5E3}"/>
              </a:ext>
            </a:extLst>
          </p:cNvPr>
          <p:cNvSpPr>
            <a:spLocks noGrp="1"/>
          </p:cNvSpPr>
          <p:nvPr>
            <p:ph type="title"/>
          </p:nvPr>
        </p:nvSpPr>
        <p:spPr>
          <a:xfrm>
            <a:off x="1167492" y="457200"/>
            <a:ext cx="10643508" cy="1371600"/>
          </a:xfrm>
        </p:spPr>
        <p:txBody>
          <a:bodyPr/>
          <a:lstStyle/>
          <a:p>
            <a:r>
              <a:rPr lang="en-US" dirty="0"/>
              <a:t>Step 2: Data Preprocessing </a:t>
            </a:r>
          </a:p>
        </p:txBody>
      </p:sp>
      <p:sp>
        <p:nvSpPr>
          <p:cNvPr id="3" name="Content Placeholder 2">
            <a:extLst>
              <a:ext uri="{FF2B5EF4-FFF2-40B4-BE49-F238E27FC236}">
                <a16:creationId xmlns:a16="http://schemas.microsoft.com/office/drawing/2014/main" id="{601605BC-C199-BB7B-8D2F-05BA71A86F1B}"/>
              </a:ext>
            </a:extLst>
          </p:cNvPr>
          <p:cNvSpPr>
            <a:spLocks noGrp="1"/>
          </p:cNvSpPr>
          <p:nvPr>
            <p:ph idx="15"/>
          </p:nvPr>
        </p:nvSpPr>
        <p:spPr>
          <a:xfrm>
            <a:off x="1166813" y="2652713"/>
            <a:ext cx="5394325" cy="3436937"/>
          </a:xfrm>
        </p:spPr>
        <p:txBody>
          <a:bodyPr>
            <a:normAutofit/>
          </a:bodyPr>
          <a:lstStyle/>
          <a:p>
            <a:r>
              <a:rPr lang="en-US" dirty="0"/>
              <a:t>Steps involved in data preprocessing are,</a:t>
            </a:r>
          </a:p>
          <a:p>
            <a:pPr marL="342900" indent="-342900">
              <a:buFont typeface="Arial" panose="020B0604020202020204" pitchFamily="34" charset="0"/>
              <a:buChar char="•"/>
            </a:pPr>
            <a:r>
              <a:rPr lang="en-US" sz="1600" dirty="0"/>
              <a:t>Data Collection</a:t>
            </a:r>
          </a:p>
          <a:p>
            <a:pPr marL="342900" indent="-342900">
              <a:buFont typeface="Arial" panose="020B0604020202020204" pitchFamily="34" charset="0"/>
              <a:buChar char="•"/>
            </a:pPr>
            <a:r>
              <a:rPr lang="en-US" sz="1600" dirty="0"/>
              <a:t>Data Cleaning</a:t>
            </a:r>
          </a:p>
          <a:p>
            <a:pPr marL="342900" indent="-342900">
              <a:buFont typeface="Arial" panose="020B0604020202020204" pitchFamily="34" charset="0"/>
              <a:buChar char="•"/>
            </a:pPr>
            <a:r>
              <a:rPr lang="en-US" sz="1600" dirty="0"/>
              <a:t>Data Integration</a:t>
            </a:r>
          </a:p>
          <a:p>
            <a:pPr marL="342900" indent="-342900">
              <a:buFont typeface="Arial" panose="020B0604020202020204" pitchFamily="34" charset="0"/>
              <a:buChar char="•"/>
            </a:pPr>
            <a:r>
              <a:rPr lang="en-US" sz="1600" dirty="0"/>
              <a:t>Data Transformation</a:t>
            </a:r>
          </a:p>
          <a:p>
            <a:pPr marL="342900" indent="-342900">
              <a:buFont typeface="Arial" panose="020B0604020202020204" pitchFamily="34" charset="0"/>
              <a:buChar char="•"/>
            </a:pPr>
            <a:r>
              <a:rPr lang="en-US" sz="1600" dirty="0"/>
              <a:t>Data Reduction</a:t>
            </a:r>
          </a:p>
          <a:p>
            <a:pPr marL="342900" indent="-342900">
              <a:buFont typeface="Arial" panose="020B0604020202020204" pitchFamily="34" charset="0"/>
              <a:buChar char="•"/>
            </a:pPr>
            <a:r>
              <a:rPr lang="en-US" sz="1600" dirty="0"/>
              <a:t>Data Splitting</a:t>
            </a:r>
          </a:p>
          <a:p>
            <a:pPr marL="342900" indent="-342900">
              <a:buFont typeface="Arial" panose="020B0604020202020204" pitchFamily="34" charset="0"/>
              <a:buChar char="•"/>
            </a:pPr>
            <a:r>
              <a:rPr lang="en-US" sz="1600" dirty="0"/>
              <a:t>Handling Imbalanced Data</a:t>
            </a:r>
          </a:p>
          <a:p>
            <a:pPr marL="342900" indent="-342900">
              <a:buFont typeface="Arial" panose="020B0604020202020204" pitchFamily="34" charset="0"/>
              <a:buChar char="•"/>
            </a:pPr>
            <a:r>
              <a:rPr lang="en-US" sz="1600" dirty="0"/>
              <a:t>Data Validation</a:t>
            </a:r>
          </a:p>
        </p:txBody>
      </p:sp>
      <p:pic>
        <p:nvPicPr>
          <p:cNvPr id="25" name="Picture Placeholder 24">
            <a:extLst>
              <a:ext uri="{FF2B5EF4-FFF2-40B4-BE49-F238E27FC236}">
                <a16:creationId xmlns:a16="http://schemas.microsoft.com/office/drawing/2014/main" id="{578AB7F5-D0D0-1346-849B-58EE273BF0DE}"/>
              </a:ext>
            </a:extLst>
          </p:cNvPr>
          <p:cNvPicPr>
            <a:picLocks noGrp="1" noChangeAspect="1"/>
          </p:cNvPicPr>
          <p:nvPr>
            <p:ph type="pic" sz="quarter" idx="14"/>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a:stretch/>
        </p:blipFill>
        <p:spPr>
          <a:xfrm>
            <a:off x="7317920" y="1447800"/>
            <a:ext cx="4214010" cy="4214010"/>
          </a:xfrm>
        </p:spPr>
      </p:pic>
    </p:spTree>
    <p:extLst>
      <p:ext uri="{BB962C8B-B14F-4D97-AF65-F5344CB8AC3E}">
        <p14:creationId xmlns:p14="http://schemas.microsoft.com/office/powerpoint/2010/main" val="3100255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DE5A-8B92-75BA-1643-DB7485864139}"/>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A2F92178-CC77-74E0-EB20-B3A47EC50DA8}"/>
              </a:ext>
            </a:extLst>
          </p:cNvPr>
          <p:cNvPicPr>
            <a:picLocks noGrp="1" noChangeAspect="1"/>
          </p:cNvPicPr>
          <p:nvPr>
            <p:ph type="pic" sz="quarter" idx="14"/>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a:stretch/>
        </p:blipFill>
        <p:spPr>
          <a:xfrm>
            <a:off x="7317920" y="1447800"/>
            <a:ext cx="4214010" cy="4214010"/>
          </a:xfrm>
        </p:spPr>
      </p:pic>
      <p:sp>
        <p:nvSpPr>
          <p:cNvPr id="2" name="Title 1">
            <a:extLst>
              <a:ext uri="{FF2B5EF4-FFF2-40B4-BE49-F238E27FC236}">
                <a16:creationId xmlns:a16="http://schemas.microsoft.com/office/drawing/2014/main" id="{124BCC49-EA23-8763-64EA-27C0F941A76C}"/>
              </a:ext>
            </a:extLst>
          </p:cNvPr>
          <p:cNvSpPr>
            <a:spLocks noGrp="1"/>
          </p:cNvSpPr>
          <p:nvPr>
            <p:ph type="title"/>
          </p:nvPr>
        </p:nvSpPr>
        <p:spPr>
          <a:xfrm>
            <a:off x="1167492" y="457200"/>
            <a:ext cx="10643508" cy="1371600"/>
          </a:xfrm>
        </p:spPr>
        <p:txBody>
          <a:bodyPr/>
          <a:lstStyle/>
          <a:p>
            <a:r>
              <a:rPr lang="en-US" dirty="0"/>
              <a:t>Step 3: Exploratory Data Analysis </a:t>
            </a:r>
          </a:p>
        </p:txBody>
      </p:sp>
      <p:sp>
        <p:nvSpPr>
          <p:cNvPr id="3" name="Content Placeholder 2">
            <a:extLst>
              <a:ext uri="{FF2B5EF4-FFF2-40B4-BE49-F238E27FC236}">
                <a16:creationId xmlns:a16="http://schemas.microsoft.com/office/drawing/2014/main" id="{CDEB1C00-2965-4444-7C58-3EB321DB98EE}"/>
              </a:ext>
            </a:extLst>
          </p:cNvPr>
          <p:cNvSpPr>
            <a:spLocks noGrp="1"/>
          </p:cNvSpPr>
          <p:nvPr>
            <p:ph idx="15"/>
          </p:nvPr>
        </p:nvSpPr>
        <p:spPr>
          <a:xfrm>
            <a:off x="1166813" y="2652713"/>
            <a:ext cx="5394325" cy="3436937"/>
          </a:xfrm>
        </p:spPr>
        <p:txBody>
          <a:bodyPr>
            <a:normAutofit/>
          </a:bodyPr>
          <a:lstStyle/>
          <a:p>
            <a:r>
              <a:rPr lang="en-US" sz="1600" b="1" dirty="0"/>
              <a:t>Exploratory Data Analysis (EDA) </a:t>
            </a:r>
            <a:r>
              <a:rPr lang="en-US" sz="1600" dirty="0"/>
              <a:t>is an approach to analyzing data sets to summarize their main characteristics, often using statistical graphics and other data visualization methods. It is used to:</a:t>
            </a:r>
          </a:p>
          <a:p>
            <a:pPr marL="285750" indent="-285750">
              <a:buFont typeface="Arial" panose="020B0604020202020204" pitchFamily="34" charset="0"/>
              <a:buChar char="•"/>
            </a:pPr>
            <a:r>
              <a:rPr lang="en-US" sz="1600" b="1" dirty="0"/>
              <a:t>Understand the data</a:t>
            </a:r>
            <a:r>
              <a:rPr lang="en-US" sz="1600" dirty="0"/>
              <a:t>: Gain insights into the data's distribution, central tendency, and variability.</a:t>
            </a:r>
          </a:p>
          <a:p>
            <a:pPr marL="285750" indent="-285750">
              <a:buFont typeface="Arial" panose="020B0604020202020204" pitchFamily="34" charset="0"/>
              <a:buChar char="•"/>
            </a:pPr>
            <a:r>
              <a:rPr lang="en-US" sz="1600" b="1" dirty="0"/>
              <a:t>Identify patterns and relationships</a:t>
            </a:r>
            <a:r>
              <a:rPr lang="en-US" sz="1600" dirty="0"/>
              <a:t>: Discover trends, correlations, and outliers.</a:t>
            </a:r>
          </a:p>
          <a:p>
            <a:pPr marL="285750" indent="-285750">
              <a:buFont typeface="Arial" panose="020B0604020202020204" pitchFamily="34" charset="0"/>
              <a:buChar char="•"/>
            </a:pPr>
            <a:r>
              <a:rPr lang="en-US" sz="1600" b="1" dirty="0"/>
              <a:t>Formulate hypotheses</a:t>
            </a:r>
            <a:r>
              <a:rPr lang="en-US" sz="1600" dirty="0"/>
              <a:t>: Generate testable hypotheses for further analysis.</a:t>
            </a:r>
          </a:p>
          <a:p>
            <a:pPr marL="285750" indent="-285750">
              <a:buFont typeface="Arial" panose="020B0604020202020204" pitchFamily="34" charset="0"/>
              <a:buChar char="•"/>
            </a:pPr>
            <a:r>
              <a:rPr lang="en-US" sz="1600" b="1" dirty="0"/>
              <a:t>Clean and prepare data</a:t>
            </a:r>
            <a:r>
              <a:rPr lang="en-US" sz="1600" dirty="0"/>
              <a:t>: Identify and handle missing values, outliers, and inconsistencies.</a:t>
            </a:r>
          </a:p>
        </p:txBody>
      </p:sp>
    </p:spTree>
    <p:extLst>
      <p:ext uri="{BB962C8B-B14F-4D97-AF65-F5344CB8AC3E}">
        <p14:creationId xmlns:p14="http://schemas.microsoft.com/office/powerpoint/2010/main" val="301965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6C2A-9498-377E-A77A-ED6C06474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89B27-53F7-8333-A76E-41EEDBD20498}"/>
              </a:ext>
            </a:extLst>
          </p:cNvPr>
          <p:cNvSpPr>
            <a:spLocks noGrp="1"/>
          </p:cNvSpPr>
          <p:nvPr>
            <p:ph type="title"/>
          </p:nvPr>
        </p:nvSpPr>
        <p:spPr>
          <a:xfrm>
            <a:off x="1167492" y="457200"/>
            <a:ext cx="9692640" cy="1371600"/>
          </a:xfrm>
        </p:spPr>
        <p:txBody>
          <a:bodyPr/>
          <a:lstStyle/>
          <a:p>
            <a:r>
              <a:rPr lang="en-US" dirty="0"/>
              <a:t>Exploratory Data Analysis(EDA)</a:t>
            </a:r>
          </a:p>
        </p:txBody>
      </p:sp>
      <p:sp>
        <p:nvSpPr>
          <p:cNvPr id="4" name="Content Placeholder 3">
            <a:extLst>
              <a:ext uri="{FF2B5EF4-FFF2-40B4-BE49-F238E27FC236}">
                <a16:creationId xmlns:a16="http://schemas.microsoft.com/office/drawing/2014/main" id="{8CF5258C-D7A9-AE77-F69A-350346307557}"/>
              </a:ext>
            </a:extLst>
          </p:cNvPr>
          <p:cNvSpPr>
            <a:spLocks noGrp="1"/>
          </p:cNvSpPr>
          <p:nvPr>
            <p:ph idx="10"/>
          </p:nvPr>
        </p:nvSpPr>
        <p:spPr>
          <a:xfrm>
            <a:off x="1167492" y="2087561"/>
            <a:ext cx="4928507" cy="3890543"/>
          </a:xfrm>
        </p:spPr>
        <p:txBody>
          <a:bodyPr/>
          <a:lstStyle/>
          <a:p>
            <a:r>
              <a:rPr lang="en-US" dirty="0"/>
              <a:t>Through EDA I have gained some Insights. They are:</a:t>
            </a:r>
          </a:p>
          <a:p>
            <a:pPr marL="342900" indent="-342900">
              <a:buFont typeface="Arial" panose="020B0604020202020204" pitchFamily="34" charset="0"/>
              <a:buChar char="•"/>
            </a:pPr>
            <a:r>
              <a:rPr lang="en-US" sz="1400" dirty="0"/>
              <a:t>From </a:t>
            </a:r>
            <a:r>
              <a:rPr lang="en-US" sz="1400" dirty="0" err="1"/>
              <a:t>StoreKey</a:t>
            </a:r>
            <a:r>
              <a:rPr lang="en-US" sz="1400" dirty="0"/>
              <a:t> Outliers it’s clear that majority of customers prefer to purchase products online otherwise, they are typically dispersed.</a:t>
            </a:r>
          </a:p>
          <a:p>
            <a:pPr marL="342900" indent="-342900">
              <a:buFont typeface="Arial" panose="020B0604020202020204" pitchFamily="34" charset="0"/>
              <a:buChar char="•"/>
            </a:pPr>
            <a:r>
              <a:rPr lang="en-US" sz="1400" dirty="0"/>
              <a:t>Line item is a right skewed distribution, well it’s indicating that some line items from range of 1 to 3 are well liked by customers.</a:t>
            </a:r>
          </a:p>
          <a:p>
            <a:pPr marL="342900" indent="-342900">
              <a:buFont typeface="Arial" panose="020B0604020202020204" pitchFamily="34" charset="0"/>
              <a:buChar char="•"/>
            </a:pPr>
            <a:r>
              <a:rPr lang="en-US" sz="1400" dirty="0"/>
              <a:t>Quantity distribution contains 2 to 3 most orders whether it is right skewed, most amounts are modest.</a:t>
            </a:r>
          </a:p>
          <a:p>
            <a:pPr marL="342900" indent="-342900">
              <a:buFont typeface="Arial" panose="020B0604020202020204" pitchFamily="34" charset="0"/>
              <a:buChar char="•"/>
            </a:pPr>
            <a:r>
              <a:rPr lang="en-US" sz="1400" dirty="0"/>
              <a:t>Product key shows variance with certain products having more counts than others.</a:t>
            </a:r>
          </a:p>
          <a:p>
            <a:pPr marL="342900" indent="-342900">
              <a:buFont typeface="Arial" panose="020B0604020202020204" pitchFamily="34" charset="0"/>
              <a:buChar char="•"/>
            </a:pPr>
            <a:r>
              <a:rPr lang="en-US" sz="1400" dirty="0"/>
              <a:t>Square meters based on bimodal distribution with two distribution peaks.</a:t>
            </a:r>
          </a:p>
        </p:txBody>
      </p:sp>
      <p:pic>
        <p:nvPicPr>
          <p:cNvPr id="5" name="Picture 4">
            <a:extLst>
              <a:ext uri="{FF2B5EF4-FFF2-40B4-BE49-F238E27FC236}">
                <a16:creationId xmlns:a16="http://schemas.microsoft.com/office/drawing/2014/main" id="{4F9C8D1D-5640-80DA-739C-EB449D16B25A}"/>
              </a:ext>
            </a:extLst>
          </p:cNvPr>
          <p:cNvPicPr>
            <a:picLocks noChangeAspect="1"/>
          </p:cNvPicPr>
          <p:nvPr/>
        </p:nvPicPr>
        <p:blipFill>
          <a:blip r:embed="rId3"/>
          <a:stretch>
            <a:fillRect/>
          </a:stretch>
        </p:blipFill>
        <p:spPr>
          <a:xfrm>
            <a:off x="6259609" y="2087560"/>
            <a:ext cx="4479926" cy="3890543"/>
          </a:xfrm>
          <a:prstGeom prst="rect">
            <a:avLst/>
          </a:prstGeom>
        </p:spPr>
      </p:pic>
    </p:spTree>
    <p:extLst>
      <p:ext uri="{BB962C8B-B14F-4D97-AF65-F5344CB8AC3E}">
        <p14:creationId xmlns:p14="http://schemas.microsoft.com/office/powerpoint/2010/main" val="1041188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40939-2838-C784-5A47-5D90C50E7D42}"/>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43830CAB-3269-664B-F47E-210EDACD8AD2}"/>
              </a:ext>
            </a:extLst>
          </p:cNvPr>
          <p:cNvPicPr>
            <a:picLocks noGrp="1" noChangeAspect="1"/>
          </p:cNvPicPr>
          <p:nvPr>
            <p:ph type="pic" sz="quarter" idx="14"/>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a:stretch/>
        </p:blipFill>
        <p:spPr>
          <a:xfrm>
            <a:off x="7317920" y="1447800"/>
            <a:ext cx="4214010" cy="4214010"/>
          </a:xfrm>
        </p:spPr>
      </p:pic>
      <p:sp>
        <p:nvSpPr>
          <p:cNvPr id="2" name="Title 1">
            <a:extLst>
              <a:ext uri="{FF2B5EF4-FFF2-40B4-BE49-F238E27FC236}">
                <a16:creationId xmlns:a16="http://schemas.microsoft.com/office/drawing/2014/main" id="{BE925EE9-5D8B-2BCE-A019-15175B93F1D8}"/>
              </a:ext>
            </a:extLst>
          </p:cNvPr>
          <p:cNvSpPr>
            <a:spLocks noGrp="1"/>
          </p:cNvSpPr>
          <p:nvPr>
            <p:ph type="title"/>
          </p:nvPr>
        </p:nvSpPr>
        <p:spPr>
          <a:xfrm>
            <a:off x="1167492" y="457200"/>
            <a:ext cx="10643508" cy="1371600"/>
          </a:xfrm>
        </p:spPr>
        <p:txBody>
          <a:bodyPr/>
          <a:lstStyle/>
          <a:p>
            <a:r>
              <a:rPr lang="en-US" dirty="0"/>
              <a:t>Step 4: Importing Data into SQL and Writing Queries in SQL </a:t>
            </a:r>
          </a:p>
        </p:txBody>
      </p:sp>
      <p:sp>
        <p:nvSpPr>
          <p:cNvPr id="3" name="Content Placeholder 2">
            <a:extLst>
              <a:ext uri="{FF2B5EF4-FFF2-40B4-BE49-F238E27FC236}">
                <a16:creationId xmlns:a16="http://schemas.microsoft.com/office/drawing/2014/main" id="{4E09A043-2630-88D3-5D97-F56FDA4361FD}"/>
              </a:ext>
            </a:extLst>
          </p:cNvPr>
          <p:cNvSpPr>
            <a:spLocks noGrp="1"/>
          </p:cNvSpPr>
          <p:nvPr>
            <p:ph idx="15"/>
          </p:nvPr>
        </p:nvSpPr>
        <p:spPr>
          <a:xfrm>
            <a:off x="1166813" y="2652713"/>
            <a:ext cx="5394325" cy="3436937"/>
          </a:xfrm>
        </p:spPr>
        <p:txBody>
          <a:bodyPr>
            <a:normAutofit/>
          </a:bodyPr>
          <a:lstStyle/>
          <a:p>
            <a:r>
              <a:rPr lang="en-US" sz="1800" dirty="0"/>
              <a:t>Steps involved in this:</a:t>
            </a:r>
          </a:p>
          <a:p>
            <a:pPr marL="285750" indent="-285750">
              <a:buFont typeface="Arial" panose="020B0604020202020204" pitchFamily="34" charset="0"/>
              <a:buChar char="•"/>
            </a:pPr>
            <a:r>
              <a:rPr lang="en-US" sz="1600" dirty="0"/>
              <a:t>Importing preprocessed data.</a:t>
            </a:r>
          </a:p>
          <a:p>
            <a:pPr marL="569214" lvl="1" indent="-285750"/>
            <a:r>
              <a:rPr lang="en-US" sz="1600" b="0" i="0" u="none" strike="noStrike" dirty="0">
                <a:effectLst/>
              </a:rPr>
              <a:t>Insert the preprocessed data into an SQL database by creating relevant tables for each data source and using SQL INSERT statements to load the data.</a:t>
            </a:r>
            <a:endParaRPr lang="en-US" sz="1600" dirty="0"/>
          </a:p>
          <a:p>
            <a:pPr marL="285750" indent="-285750">
              <a:buFont typeface="Arial" panose="020B0604020202020204" pitchFamily="34" charset="0"/>
              <a:buChar char="•"/>
            </a:pPr>
            <a:r>
              <a:rPr lang="en-US" sz="1600" dirty="0"/>
              <a:t>Writing SQL queries.</a:t>
            </a:r>
          </a:p>
          <a:p>
            <a:pPr marL="569214" lvl="1" indent="-285750"/>
            <a:r>
              <a:rPr lang="en-US" sz="1600" b="0" i="0" u="none" strike="noStrike" dirty="0">
                <a:effectLst/>
              </a:rPr>
              <a:t>To extract key insights from the data. These queries should address important business questions and support the analysis steps below.</a:t>
            </a:r>
            <a:endParaRPr lang="en-US" sz="1600" dirty="0"/>
          </a:p>
        </p:txBody>
      </p:sp>
    </p:spTree>
    <p:extLst>
      <p:ext uri="{BB962C8B-B14F-4D97-AF65-F5344CB8AC3E}">
        <p14:creationId xmlns:p14="http://schemas.microsoft.com/office/powerpoint/2010/main" val="3119507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1CB013-7F8D-7656-1EAE-83BE0014FB03}"/>
              </a:ext>
            </a:extLst>
          </p:cNvPr>
          <p:cNvSpPr>
            <a:spLocks noGrp="1"/>
          </p:cNvSpPr>
          <p:nvPr>
            <p:ph idx="15"/>
          </p:nvPr>
        </p:nvSpPr>
        <p:spPr/>
        <p:txBody>
          <a:bodyPr>
            <a:normAutofit/>
          </a:bodyPr>
          <a:lstStyle/>
          <a:p>
            <a:r>
              <a:rPr lang="en-US" sz="1800" dirty="0"/>
              <a:t>Data visualization transforms complex data into meaningful visuals like charts and graphs. It helps to:</a:t>
            </a:r>
          </a:p>
          <a:p>
            <a:r>
              <a:rPr lang="en-US" sz="1600" b="1" dirty="0"/>
              <a:t>Understand trends and patterns</a:t>
            </a:r>
            <a:r>
              <a:rPr lang="en-US" sz="1600" dirty="0"/>
              <a:t>: Easily identify trends, outliers, and relationships within the data.</a:t>
            </a:r>
          </a:p>
          <a:p>
            <a:r>
              <a:rPr lang="en-US" sz="1600" b="1" dirty="0"/>
              <a:t>Communicate insights effectively:</a:t>
            </a:r>
            <a:r>
              <a:rPr lang="en-US" sz="1600" dirty="0"/>
              <a:t> Clearly convey complex information to audiences of all levels.</a:t>
            </a:r>
          </a:p>
          <a:p>
            <a:r>
              <a:rPr lang="en-US" sz="1600" b="1" dirty="0"/>
              <a:t>Make data-driven decisions:</a:t>
            </a:r>
            <a:r>
              <a:rPr lang="en-US" sz="1600" dirty="0"/>
              <a:t> Support informed decision-making by providing a clear and concise overview of the data.</a:t>
            </a:r>
          </a:p>
          <a:p>
            <a:r>
              <a:rPr lang="en-US" sz="1600" b="1" dirty="0"/>
              <a:t>Engage and inspire:</a:t>
            </a:r>
            <a:r>
              <a:rPr lang="en-US" sz="1600" dirty="0"/>
              <a:t> Make data more interesting and engaging for audiences.</a:t>
            </a:r>
          </a:p>
          <a:p>
            <a:endParaRPr lang="en-IN" dirty="0"/>
          </a:p>
        </p:txBody>
      </p:sp>
      <p:pic>
        <p:nvPicPr>
          <p:cNvPr id="6" name="Picture Placeholder 5">
            <a:extLst>
              <a:ext uri="{FF2B5EF4-FFF2-40B4-BE49-F238E27FC236}">
                <a16:creationId xmlns:a16="http://schemas.microsoft.com/office/drawing/2014/main" id="{6A18CDB9-34AD-2864-BC56-760D97C6D2D8}"/>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33000"/>
                    </a14:imgEffect>
                  </a14:imgLayer>
                </a14:imgProps>
              </a:ext>
            </a:extLst>
          </a:blip>
          <a:srcRect/>
          <a:stretch>
            <a:fillRect/>
          </a:stretch>
        </p:blipFill>
        <p:spPr>
          <a:xfrm>
            <a:off x="7308589" y="1828800"/>
            <a:ext cx="4214010" cy="4214010"/>
          </a:xfrm>
        </p:spPr>
      </p:pic>
      <p:sp>
        <p:nvSpPr>
          <p:cNvPr id="2" name="Title 1">
            <a:extLst>
              <a:ext uri="{FF2B5EF4-FFF2-40B4-BE49-F238E27FC236}">
                <a16:creationId xmlns:a16="http://schemas.microsoft.com/office/drawing/2014/main" id="{F47A4E45-AC6F-9035-8F88-6EBEBDE95496}"/>
              </a:ext>
            </a:extLst>
          </p:cNvPr>
          <p:cNvSpPr>
            <a:spLocks noGrp="1"/>
          </p:cNvSpPr>
          <p:nvPr>
            <p:ph type="title"/>
          </p:nvPr>
        </p:nvSpPr>
        <p:spPr/>
        <p:txBody>
          <a:bodyPr/>
          <a:lstStyle/>
          <a:p>
            <a:r>
              <a:rPr lang="en-IN" dirty="0"/>
              <a:t>Data Visualization using Power BI</a:t>
            </a:r>
          </a:p>
        </p:txBody>
      </p:sp>
    </p:spTree>
    <p:extLst>
      <p:ext uri="{BB962C8B-B14F-4D97-AF65-F5344CB8AC3E}">
        <p14:creationId xmlns:p14="http://schemas.microsoft.com/office/powerpoint/2010/main" val="501963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72CA-6DCF-1E25-3AAC-7ECE51EED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2F643-8AE0-227B-E5AF-7D1188424B83}"/>
              </a:ext>
            </a:extLst>
          </p:cNvPr>
          <p:cNvSpPr>
            <a:spLocks noGrp="1"/>
          </p:cNvSpPr>
          <p:nvPr>
            <p:ph type="title"/>
          </p:nvPr>
        </p:nvSpPr>
        <p:spPr>
          <a:xfrm>
            <a:off x="1167492" y="457200"/>
            <a:ext cx="9692640" cy="1371600"/>
          </a:xfrm>
        </p:spPr>
        <p:txBody>
          <a:bodyPr/>
          <a:lstStyle/>
          <a:p>
            <a:r>
              <a:rPr lang="en-US" dirty="0"/>
              <a:t>Dashboard</a:t>
            </a:r>
          </a:p>
        </p:txBody>
      </p:sp>
      <p:sp>
        <p:nvSpPr>
          <p:cNvPr id="4" name="Content Placeholder 3">
            <a:extLst>
              <a:ext uri="{FF2B5EF4-FFF2-40B4-BE49-F238E27FC236}">
                <a16:creationId xmlns:a16="http://schemas.microsoft.com/office/drawing/2014/main" id="{1B418031-4984-6FB8-3DC8-B2A56CF0EABD}"/>
              </a:ext>
            </a:extLst>
          </p:cNvPr>
          <p:cNvSpPr>
            <a:spLocks noGrp="1"/>
          </p:cNvSpPr>
          <p:nvPr>
            <p:ph idx="10"/>
          </p:nvPr>
        </p:nvSpPr>
        <p:spPr>
          <a:xfrm>
            <a:off x="1167492" y="2087561"/>
            <a:ext cx="4928507" cy="3890543"/>
          </a:xfrm>
        </p:spPr>
        <p:txBody>
          <a:bodyPr/>
          <a:lstStyle/>
          <a:p>
            <a:pPr marL="285750" indent="-285750">
              <a:buFont typeface="Arial" panose="020B0604020202020204" pitchFamily="34" charset="0"/>
              <a:buChar char="•"/>
            </a:pPr>
            <a:r>
              <a:rPr lang="en-US" sz="1600" dirty="0"/>
              <a:t>This dashboard provides a comprehensive overview of sales and customer metrics for a global electronics business. </a:t>
            </a:r>
          </a:p>
          <a:p>
            <a:pPr marL="285750" indent="-285750">
              <a:buFont typeface="Arial" panose="020B0604020202020204" pitchFamily="34" charset="0"/>
              <a:buChar char="•"/>
            </a:pPr>
            <a:r>
              <a:rPr lang="en-US" sz="1600" dirty="0"/>
              <a:t>Key insights include the total number of unique customers, sales quantity, unit price, and profit in USD. It breaks down sales quantity by product categories, years, and months, showing trends over time. </a:t>
            </a:r>
          </a:p>
          <a:p>
            <a:pPr marL="285750" indent="-285750">
              <a:buFont typeface="Arial" panose="020B0604020202020204" pitchFamily="34" charset="0"/>
              <a:buChar char="•"/>
            </a:pPr>
            <a:r>
              <a:rPr lang="en-US" sz="1600" dirty="0"/>
              <a:t>Additionally, the dashboard highlights country-wise sales contributions, currency-wise revenue distribution, and the correlation of quantity with square meters. </a:t>
            </a:r>
          </a:p>
          <a:p>
            <a:pPr marL="285750" indent="-285750">
              <a:buFont typeface="Arial" panose="020B0604020202020204" pitchFamily="34" charset="0"/>
              <a:buChar char="•"/>
            </a:pPr>
            <a:r>
              <a:rPr lang="en-US" sz="1600" dirty="0"/>
              <a:t>The visualization enables stakeholders to identify top-performing categories, regions, and pricing patterns.</a:t>
            </a:r>
          </a:p>
        </p:txBody>
      </p:sp>
      <p:pic>
        <p:nvPicPr>
          <p:cNvPr id="5" name="Picture 4">
            <a:extLst>
              <a:ext uri="{FF2B5EF4-FFF2-40B4-BE49-F238E27FC236}">
                <a16:creationId xmlns:a16="http://schemas.microsoft.com/office/drawing/2014/main" id="{BA992738-A6EA-B554-6812-A5D2D8800FF2}"/>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a:stretch/>
        </p:blipFill>
        <p:spPr>
          <a:xfrm>
            <a:off x="6259609" y="2491274"/>
            <a:ext cx="4959916" cy="2811078"/>
          </a:xfrm>
          <a:prstGeom prst="rect">
            <a:avLst/>
          </a:prstGeom>
        </p:spPr>
      </p:pic>
    </p:spTree>
    <p:extLst>
      <p:ext uri="{BB962C8B-B14F-4D97-AF65-F5344CB8AC3E}">
        <p14:creationId xmlns:p14="http://schemas.microsoft.com/office/powerpoint/2010/main" val="2445403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294A5-514E-2A7A-6F23-7FF90A7A5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5956A-2D55-AEA3-CDB4-D749D1451147}"/>
              </a:ext>
            </a:extLst>
          </p:cNvPr>
          <p:cNvSpPr>
            <a:spLocks noGrp="1"/>
          </p:cNvSpPr>
          <p:nvPr>
            <p:ph type="title"/>
          </p:nvPr>
        </p:nvSpPr>
        <p:spPr>
          <a:xfrm>
            <a:off x="1167492" y="457200"/>
            <a:ext cx="9692640" cy="1371600"/>
          </a:xfrm>
        </p:spPr>
        <p:txBody>
          <a:bodyPr/>
          <a:lstStyle/>
          <a:p>
            <a:r>
              <a:rPr lang="en-US" dirty="0"/>
              <a:t>Dashboard Insights</a:t>
            </a:r>
          </a:p>
        </p:txBody>
      </p:sp>
      <p:pic>
        <p:nvPicPr>
          <p:cNvPr id="6" name="Picture 5">
            <a:extLst>
              <a:ext uri="{FF2B5EF4-FFF2-40B4-BE49-F238E27FC236}">
                <a16:creationId xmlns:a16="http://schemas.microsoft.com/office/drawing/2014/main" id="{FE926074-9072-5A2F-B2FF-02962345FE34}"/>
              </a:ext>
            </a:extLst>
          </p:cNvPr>
          <p:cNvPicPr>
            <a:picLocks noChangeAspect="1"/>
          </p:cNvPicPr>
          <p:nvPr/>
        </p:nvPicPr>
        <p:blipFill>
          <a:blip r:embed="rId3"/>
          <a:srcRect l="73275"/>
          <a:stretch/>
        </p:blipFill>
        <p:spPr>
          <a:xfrm>
            <a:off x="7259216" y="2037279"/>
            <a:ext cx="1851250" cy="1080702"/>
          </a:xfrm>
          <a:prstGeom prst="rect">
            <a:avLst/>
          </a:prstGeom>
        </p:spPr>
      </p:pic>
      <p:pic>
        <p:nvPicPr>
          <p:cNvPr id="7" name="Picture 6">
            <a:extLst>
              <a:ext uri="{FF2B5EF4-FFF2-40B4-BE49-F238E27FC236}">
                <a16:creationId xmlns:a16="http://schemas.microsoft.com/office/drawing/2014/main" id="{F173E662-0B0C-0E43-DF52-0B8971861F5B}"/>
              </a:ext>
            </a:extLst>
          </p:cNvPr>
          <p:cNvPicPr>
            <a:picLocks noChangeAspect="1"/>
          </p:cNvPicPr>
          <p:nvPr/>
        </p:nvPicPr>
        <p:blipFill>
          <a:blip r:embed="rId3"/>
          <a:srcRect l="46958" r="26317"/>
          <a:stretch/>
        </p:blipFill>
        <p:spPr>
          <a:xfrm>
            <a:off x="7259216" y="4293731"/>
            <a:ext cx="1851250" cy="1080702"/>
          </a:xfrm>
          <a:prstGeom prst="rect">
            <a:avLst/>
          </a:prstGeom>
        </p:spPr>
      </p:pic>
      <p:pic>
        <p:nvPicPr>
          <p:cNvPr id="8" name="Picture 7">
            <a:extLst>
              <a:ext uri="{FF2B5EF4-FFF2-40B4-BE49-F238E27FC236}">
                <a16:creationId xmlns:a16="http://schemas.microsoft.com/office/drawing/2014/main" id="{B4C33DF0-A6F5-2B43-FCB4-A7A3A552C3AF}"/>
              </a:ext>
            </a:extLst>
          </p:cNvPr>
          <p:cNvPicPr>
            <a:picLocks noChangeAspect="1"/>
          </p:cNvPicPr>
          <p:nvPr/>
        </p:nvPicPr>
        <p:blipFill>
          <a:blip r:embed="rId3"/>
          <a:srcRect l="25593" r="53467"/>
          <a:stretch/>
        </p:blipFill>
        <p:spPr>
          <a:xfrm>
            <a:off x="2310882" y="4293731"/>
            <a:ext cx="1450536" cy="1080702"/>
          </a:xfrm>
          <a:prstGeom prst="rect">
            <a:avLst/>
          </a:prstGeom>
        </p:spPr>
      </p:pic>
      <p:pic>
        <p:nvPicPr>
          <p:cNvPr id="9" name="Picture 8">
            <a:extLst>
              <a:ext uri="{FF2B5EF4-FFF2-40B4-BE49-F238E27FC236}">
                <a16:creationId xmlns:a16="http://schemas.microsoft.com/office/drawing/2014/main" id="{09A1BA63-6838-6340-CDD5-1C36BD9C7D78}"/>
              </a:ext>
            </a:extLst>
          </p:cNvPr>
          <p:cNvPicPr>
            <a:picLocks noChangeAspect="1"/>
          </p:cNvPicPr>
          <p:nvPr/>
        </p:nvPicPr>
        <p:blipFill>
          <a:blip r:embed="rId3"/>
          <a:srcRect r="73275"/>
          <a:stretch/>
        </p:blipFill>
        <p:spPr>
          <a:xfrm>
            <a:off x="2109666" y="2037279"/>
            <a:ext cx="1852968" cy="1081705"/>
          </a:xfrm>
          <a:prstGeom prst="rect">
            <a:avLst/>
          </a:prstGeom>
        </p:spPr>
      </p:pic>
      <p:sp>
        <p:nvSpPr>
          <p:cNvPr id="10" name="TextBox 9">
            <a:extLst>
              <a:ext uri="{FF2B5EF4-FFF2-40B4-BE49-F238E27FC236}">
                <a16:creationId xmlns:a16="http://schemas.microsoft.com/office/drawing/2014/main" id="{E7DC7FF8-C65D-2664-CEA4-9B0A1DEDA9AF}"/>
              </a:ext>
            </a:extLst>
          </p:cNvPr>
          <p:cNvSpPr txBox="1"/>
          <p:nvPr/>
        </p:nvSpPr>
        <p:spPr>
          <a:xfrm>
            <a:off x="849086" y="3219061"/>
            <a:ext cx="4730620" cy="646331"/>
          </a:xfrm>
          <a:prstGeom prst="rect">
            <a:avLst/>
          </a:prstGeom>
          <a:noFill/>
        </p:spPr>
        <p:txBody>
          <a:bodyPr wrap="square" rtlCol="0">
            <a:spAutoFit/>
          </a:bodyPr>
          <a:lstStyle/>
          <a:p>
            <a:pPr marL="285750" indent="-285750">
              <a:buFont typeface="Arial" panose="020B0604020202020204" pitchFamily="34" charset="0"/>
              <a:buChar char="•"/>
            </a:pPr>
            <a:r>
              <a:rPr lang="en-IN" dirty="0"/>
              <a:t>There are 62815 consumers consuming products from Global Electronics</a:t>
            </a:r>
          </a:p>
        </p:txBody>
      </p:sp>
      <p:sp>
        <p:nvSpPr>
          <p:cNvPr id="11" name="TextBox 10">
            <a:extLst>
              <a:ext uri="{FF2B5EF4-FFF2-40B4-BE49-F238E27FC236}">
                <a16:creationId xmlns:a16="http://schemas.microsoft.com/office/drawing/2014/main" id="{AC91FF2E-244F-66E3-F282-401B30C002CF}"/>
              </a:ext>
            </a:extLst>
          </p:cNvPr>
          <p:cNvSpPr txBox="1"/>
          <p:nvPr/>
        </p:nvSpPr>
        <p:spPr>
          <a:xfrm>
            <a:off x="5579706" y="3214356"/>
            <a:ext cx="4730620" cy="646331"/>
          </a:xfrm>
          <a:prstGeom prst="rect">
            <a:avLst/>
          </a:prstGeom>
          <a:noFill/>
        </p:spPr>
        <p:txBody>
          <a:bodyPr wrap="square" rtlCol="0">
            <a:spAutoFit/>
          </a:bodyPr>
          <a:lstStyle/>
          <a:p>
            <a:pPr marL="285750" indent="-285750">
              <a:buFont typeface="Arial" panose="020B0604020202020204" pitchFamily="34" charset="0"/>
              <a:buChar char="•"/>
            </a:pPr>
            <a:r>
              <a:rPr lang="en-IN" dirty="0"/>
              <a:t>Total Profit of Global Electronics is about $10.33 Million(₹ 880,095,340).</a:t>
            </a:r>
          </a:p>
        </p:txBody>
      </p:sp>
      <p:sp>
        <p:nvSpPr>
          <p:cNvPr id="12" name="TextBox 11">
            <a:extLst>
              <a:ext uri="{FF2B5EF4-FFF2-40B4-BE49-F238E27FC236}">
                <a16:creationId xmlns:a16="http://schemas.microsoft.com/office/drawing/2014/main" id="{C7F04C06-803B-EBEF-2960-601256847DA9}"/>
              </a:ext>
            </a:extLst>
          </p:cNvPr>
          <p:cNvSpPr txBox="1"/>
          <p:nvPr/>
        </p:nvSpPr>
        <p:spPr>
          <a:xfrm>
            <a:off x="849086" y="5479606"/>
            <a:ext cx="4730620" cy="646331"/>
          </a:xfrm>
          <a:prstGeom prst="rect">
            <a:avLst/>
          </a:prstGeom>
          <a:noFill/>
        </p:spPr>
        <p:txBody>
          <a:bodyPr wrap="square" rtlCol="0">
            <a:spAutoFit/>
          </a:bodyPr>
          <a:lstStyle/>
          <a:p>
            <a:pPr marL="285750" indent="-285750">
              <a:buFont typeface="Arial" panose="020B0604020202020204" pitchFamily="34" charset="0"/>
              <a:buChar char="•"/>
            </a:pPr>
            <a:r>
              <a:rPr lang="en-IN" dirty="0"/>
              <a:t>Totally 198k &amp; above products sold in Global Electronics</a:t>
            </a:r>
          </a:p>
        </p:txBody>
      </p:sp>
      <p:sp>
        <p:nvSpPr>
          <p:cNvPr id="13" name="TextBox 12">
            <a:extLst>
              <a:ext uri="{FF2B5EF4-FFF2-40B4-BE49-F238E27FC236}">
                <a16:creationId xmlns:a16="http://schemas.microsoft.com/office/drawing/2014/main" id="{B7F4E5C3-4F1F-B3C2-B47C-F1D2E3E07713}"/>
              </a:ext>
            </a:extLst>
          </p:cNvPr>
          <p:cNvSpPr txBox="1"/>
          <p:nvPr/>
        </p:nvSpPr>
        <p:spPr>
          <a:xfrm>
            <a:off x="5819531" y="5479606"/>
            <a:ext cx="4730620" cy="646331"/>
          </a:xfrm>
          <a:prstGeom prst="rect">
            <a:avLst/>
          </a:prstGeom>
          <a:noFill/>
        </p:spPr>
        <p:txBody>
          <a:bodyPr wrap="square" rtlCol="0">
            <a:spAutoFit/>
          </a:bodyPr>
          <a:lstStyle/>
          <a:p>
            <a:pPr marL="285750" indent="-285750">
              <a:buFont typeface="Arial" panose="020B0604020202020204" pitchFamily="34" charset="0"/>
              <a:buChar char="•"/>
            </a:pPr>
            <a:r>
              <a:rPr lang="en-IN" dirty="0"/>
              <a:t>Total Revenue of Global Electronics is about $17.63 Million(₹1,502,040,740).</a:t>
            </a:r>
          </a:p>
        </p:txBody>
      </p:sp>
    </p:spTree>
    <p:extLst>
      <p:ext uri="{BB962C8B-B14F-4D97-AF65-F5344CB8AC3E}">
        <p14:creationId xmlns:p14="http://schemas.microsoft.com/office/powerpoint/2010/main" val="3332041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04713-D9E2-598D-8F18-25BC3C244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CEA3E-6C3F-7E5E-FBDE-0597EDC342C7}"/>
              </a:ext>
            </a:extLst>
          </p:cNvPr>
          <p:cNvSpPr>
            <a:spLocks noGrp="1"/>
          </p:cNvSpPr>
          <p:nvPr>
            <p:ph type="title"/>
          </p:nvPr>
        </p:nvSpPr>
        <p:spPr>
          <a:xfrm>
            <a:off x="1167492" y="457200"/>
            <a:ext cx="9692640" cy="1371600"/>
          </a:xfrm>
        </p:spPr>
        <p:txBody>
          <a:bodyPr/>
          <a:lstStyle/>
          <a:p>
            <a:r>
              <a:rPr lang="en-US" dirty="0"/>
              <a:t>Dashboard Insights</a:t>
            </a:r>
          </a:p>
        </p:txBody>
      </p:sp>
      <p:sp>
        <p:nvSpPr>
          <p:cNvPr id="10" name="TextBox 9">
            <a:extLst>
              <a:ext uri="{FF2B5EF4-FFF2-40B4-BE49-F238E27FC236}">
                <a16:creationId xmlns:a16="http://schemas.microsoft.com/office/drawing/2014/main" id="{621F15F5-ED7A-B9EB-4F93-4A76021E3DF4}"/>
              </a:ext>
            </a:extLst>
          </p:cNvPr>
          <p:cNvSpPr txBox="1"/>
          <p:nvPr/>
        </p:nvSpPr>
        <p:spPr>
          <a:xfrm>
            <a:off x="849086" y="4499444"/>
            <a:ext cx="4730620" cy="923330"/>
          </a:xfrm>
          <a:prstGeom prst="rect">
            <a:avLst/>
          </a:prstGeom>
          <a:noFill/>
        </p:spPr>
        <p:txBody>
          <a:bodyPr wrap="square" rtlCol="0">
            <a:spAutoFit/>
          </a:bodyPr>
          <a:lstStyle/>
          <a:p>
            <a:pPr marL="285750" indent="-285750">
              <a:buFont typeface="Arial" panose="020B0604020202020204" pitchFamily="34" charset="0"/>
              <a:buChar char="•"/>
            </a:pPr>
            <a:r>
              <a:rPr lang="en-IN" dirty="0"/>
              <a:t>Average product sold in Global Electronics is 3.14 with minimum of 1 and maximum of 10 products.</a:t>
            </a:r>
          </a:p>
        </p:txBody>
      </p:sp>
      <p:sp>
        <p:nvSpPr>
          <p:cNvPr id="11" name="TextBox 10">
            <a:extLst>
              <a:ext uri="{FF2B5EF4-FFF2-40B4-BE49-F238E27FC236}">
                <a16:creationId xmlns:a16="http://schemas.microsoft.com/office/drawing/2014/main" id="{D161E145-49BC-9C72-19B8-002CF773F60E}"/>
              </a:ext>
            </a:extLst>
          </p:cNvPr>
          <p:cNvSpPr txBox="1"/>
          <p:nvPr/>
        </p:nvSpPr>
        <p:spPr>
          <a:xfrm>
            <a:off x="5579706" y="4499443"/>
            <a:ext cx="4730620" cy="923330"/>
          </a:xfrm>
          <a:prstGeom prst="rect">
            <a:avLst/>
          </a:prstGeom>
          <a:noFill/>
        </p:spPr>
        <p:txBody>
          <a:bodyPr wrap="square" rtlCol="0">
            <a:spAutoFit/>
          </a:bodyPr>
          <a:lstStyle/>
          <a:p>
            <a:pPr marL="285750" indent="-285750">
              <a:buFont typeface="Arial" panose="020B0604020202020204" pitchFamily="34" charset="0"/>
              <a:buChar char="•"/>
            </a:pPr>
            <a:r>
              <a:rPr lang="en-IN" dirty="0"/>
              <a:t>Average Revenue of Global Electronics is $280.57 with minimum of $0.95 and maximum of $3.20k.</a:t>
            </a:r>
          </a:p>
        </p:txBody>
      </p:sp>
      <p:pic>
        <p:nvPicPr>
          <p:cNvPr id="4" name="Picture 3">
            <a:extLst>
              <a:ext uri="{FF2B5EF4-FFF2-40B4-BE49-F238E27FC236}">
                <a16:creationId xmlns:a16="http://schemas.microsoft.com/office/drawing/2014/main" id="{88FB7E81-9BD3-04EE-E2E0-3B062FA1F66A}"/>
              </a:ext>
            </a:extLst>
          </p:cNvPr>
          <p:cNvPicPr>
            <a:picLocks/>
          </p:cNvPicPr>
          <p:nvPr/>
        </p:nvPicPr>
        <p:blipFill>
          <a:blip r:embed="rId3"/>
          <a:srcRect l="50000"/>
          <a:stretch/>
        </p:blipFill>
        <p:spPr>
          <a:xfrm>
            <a:off x="6321416" y="2445537"/>
            <a:ext cx="3247200" cy="1872000"/>
          </a:xfrm>
          <a:prstGeom prst="rect">
            <a:avLst/>
          </a:prstGeom>
        </p:spPr>
      </p:pic>
      <p:pic>
        <p:nvPicPr>
          <p:cNvPr id="14" name="Picture 13">
            <a:extLst>
              <a:ext uri="{FF2B5EF4-FFF2-40B4-BE49-F238E27FC236}">
                <a16:creationId xmlns:a16="http://schemas.microsoft.com/office/drawing/2014/main" id="{D149E790-576F-C47B-7625-49A63BE86D8A}"/>
              </a:ext>
            </a:extLst>
          </p:cNvPr>
          <p:cNvPicPr>
            <a:picLocks/>
          </p:cNvPicPr>
          <p:nvPr/>
        </p:nvPicPr>
        <p:blipFill>
          <a:blip r:embed="rId3"/>
          <a:srcRect r="50000"/>
          <a:stretch/>
        </p:blipFill>
        <p:spPr>
          <a:xfrm>
            <a:off x="1586205" y="2444620"/>
            <a:ext cx="3247052" cy="1872917"/>
          </a:xfrm>
          <a:prstGeom prst="rect">
            <a:avLst/>
          </a:prstGeom>
        </p:spPr>
      </p:pic>
    </p:spTree>
    <p:extLst>
      <p:ext uri="{BB962C8B-B14F-4D97-AF65-F5344CB8AC3E}">
        <p14:creationId xmlns:p14="http://schemas.microsoft.com/office/powerpoint/2010/main" val="3073006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B445A-DBBC-7E8F-B35C-DAD4FC7AF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F1ED9-4C3E-DB11-4B99-9D0B33A6A319}"/>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9E4C59FC-E49A-6B98-A2E9-11F4ADEE7480}"/>
              </a:ext>
            </a:extLst>
          </p:cNvPr>
          <p:cNvSpPr>
            <a:spLocks noGrp="1"/>
          </p:cNvSpPr>
          <p:nvPr>
            <p:ph idx="10"/>
          </p:nvPr>
        </p:nvSpPr>
        <p:spPr>
          <a:xfrm>
            <a:off x="1167492" y="2484630"/>
            <a:ext cx="4928507" cy="3493474"/>
          </a:xfrm>
        </p:spPr>
        <p:txBody>
          <a:bodyPr/>
          <a:lstStyle/>
          <a:p>
            <a:r>
              <a:rPr lang="en-US" sz="1600" b="1" dirty="0"/>
              <a:t>Total Product sold by each category:</a:t>
            </a:r>
          </a:p>
          <a:p>
            <a:pPr marL="285750" indent="-285750">
              <a:buFont typeface="Arial" panose="020B0604020202020204" pitchFamily="34" charset="0"/>
              <a:buChar char="•"/>
            </a:pPr>
            <a:r>
              <a:rPr lang="en-US" sz="1400" dirty="0"/>
              <a:t>Computers(44k), Cell Phones(37k), Music, Movies &amp; Audiobooks(29k), Audio(23k), Games &amp; Toys(23k), Home Appliances(18k), Cameras &amp; Camcorders(18k), TV &amp; Video(11k).</a:t>
            </a:r>
          </a:p>
          <a:p>
            <a:pPr marL="285750" indent="-285750">
              <a:buFont typeface="Arial" panose="020B0604020202020204" pitchFamily="34" charset="0"/>
              <a:buChar char="•"/>
            </a:pPr>
            <a:r>
              <a:rPr lang="en-US" sz="1400" dirty="0"/>
              <a:t>This visual clearly indicates that computers are the most sold products, highlighting customers' strong preference for technology.</a:t>
            </a:r>
          </a:p>
          <a:p>
            <a:pPr marL="285750" indent="-285750">
              <a:buFont typeface="Arial" panose="020B0604020202020204" pitchFamily="34" charset="0"/>
              <a:buChar char="•"/>
            </a:pPr>
            <a:r>
              <a:rPr lang="en-US" sz="1400" dirty="0"/>
              <a:t>TV &amp; Video are the least sold products, indicating a decline in demand among customers.</a:t>
            </a:r>
          </a:p>
        </p:txBody>
      </p:sp>
      <p:pic>
        <p:nvPicPr>
          <p:cNvPr id="5" name="Picture 4">
            <a:extLst>
              <a:ext uri="{FF2B5EF4-FFF2-40B4-BE49-F238E27FC236}">
                <a16:creationId xmlns:a16="http://schemas.microsoft.com/office/drawing/2014/main" id="{83BB0507-EF98-C15F-48FD-00ED97029937}"/>
              </a:ext>
            </a:extLst>
          </p:cNvPr>
          <p:cNvPicPr>
            <a:picLocks noChangeAspect="1"/>
          </p:cNvPicPr>
          <p:nvPr/>
        </p:nvPicPr>
        <p:blipFill>
          <a:blip r:embed="rId3"/>
          <a:srcRect/>
          <a:stretch/>
        </p:blipFill>
        <p:spPr>
          <a:xfrm>
            <a:off x="6493017" y="2484630"/>
            <a:ext cx="4367115" cy="3188381"/>
          </a:xfrm>
          <a:prstGeom prst="rect">
            <a:avLst/>
          </a:prstGeom>
        </p:spPr>
      </p:pic>
    </p:spTree>
    <p:extLst>
      <p:ext uri="{BB962C8B-B14F-4D97-AF65-F5344CB8AC3E}">
        <p14:creationId xmlns:p14="http://schemas.microsoft.com/office/powerpoint/2010/main" val="4284309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A9967-829E-5118-A3C8-1AA4A883F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FA6A2-A21D-87DE-77BB-983C7279638A}"/>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E45F61A1-D166-DC5E-944B-2FECC82CB519}"/>
              </a:ext>
            </a:extLst>
          </p:cNvPr>
          <p:cNvSpPr>
            <a:spLocks noGrp="1"/>
          </p:cNvSpPr>
          <p:nvPr>
            <p:ph idx="10"/>
          </p:nvPr>
        </p:nvSpPr>
        <p:spPr>
          <a:xfrm>
            <a:off x="1167492" y="2484630"/>
            <a:ext cx="4928507" cy="3493474"/>
          </a:xfrm>
        </p:spPr>
        <p:txBody>
          <a:bodyPr/>
          <a:lstStyle/>
          <a:p>
            <a:r>
              <a:rPr lang="en-US" sz="1600" b="1" dirty="0"/>
              <a:t>Total sales by month, quarter &amp; year:</a:t>
            </a:r>
          </a:p>
          <a:p>
            <a:pPr marL="285750" indent="-285750">
              <a:buFont typeface="Arial" panose="020B0604020202020204" pitchFamily="34" charset="0"/>
              <a:buChar char="•"/>
            </a:pPr>
            <a:r>
              <a:rPr lang="en-US" sz="1600" dirty="0"/>
              <a:t>In the initial stage, only 2,101 products were sold in January of the 1st quarter of 2016.</a:t>
            </a:r>
          </a:p>
          <a:p>
            <a:pPr marL="285750" indent="-285750">
              <a:buFont typeface="Arial" panose="020B0604020202020204" pitchFamily="34" charset="0"/>
              <a:buChar char="•"/>
            </a:pPr>
            <a:r>
              <a:rPr lang="en-US" sz="1600" dirty="0"/>
              <a:t>By the end, only 1,949 products were sold in February of the 1st quarter of 2021, which is even lower than the sales in the starting year, 2016.</a:t>
            </a:r>
          </a:p>
          <a:p>
            <a:pPr marL="285750" indent="-285750">
              <a:buFont typeface="Arial" panose="020B0604020202020204" pitchFamily="34" charset="0"/>
              <a:buChar char="•"/>
            </a:pPr>
            <a:r>
              <a:rPr lang="en-US" sz="1600" dirty="0"/>
              <a:t>The highest number of products sold was 9,343 in December of the 4th quarter of 2019, marking the peak sales period.</a:t>
            </a:r>
          </a:p>
        </p:txBody>
      </p:sp>
      <p:pic>
        <p:nvPicPr>
          <p:cNvPr id="5" name="Picture 4">
            <a:extLst>
              <a:ext uri="{FF2B5EF4-FFF2-40B4-BE49-F238E27FC236}">
                <a16:creationId xmlns:a16="http://schemas.microsoft.com/office/drawing/2014/main" id="{7ADCC27F-8E49-90B0-3CA9-CC44593F9955}"/>
              </a:ext>
            </a:extLst>
          </p:cNvPr>
          <p:cNvPicPr>
            <a:picLocks noChangeAspect="1"/>
          </p:cNvPicPr>
          <p:nvPr/>
        </p:nvPicPr>
        <p:blipFill>
          <a:blip r:embed="rId3"/>
          <a:srcRect/>
          <a:stretch/>
        </p:blipFill>
        <p:spPr>
          <a:xfrm>
            <a:off x="6493017" y="2555518"/>
            <a:ext cx="4367115" cy="3046604"/>
          </a:xfrm>
          <a:prstGeom prst="rect">
            <a:avLst/>
          </a:prstGeom>
        </p:spPr>
      </p:pic>
    </p:spTree>
    <p:extLst>
      <p:ext uri="{BB962C8B-B14F-4D97-AF65-F5344CB8AC3E}">
        <p14:creationId xmlns:p14="http://schemas.microsoft.com/office/powerpoint/2010/main" val="339731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5A0BE-9EE6-EDC3-A6F6-7E47BEB26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D5D34-7040-4905-ADD6-06012DAEA7E0}"/>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31A1E147-6DD5-9295-2BC3-53629F0677E1}"/>
              </a:ext>
            </a:extLst>
          </p:cNvPr>
          <p:cNvSpPr>
            <a:spLocks noGrp="1"/>
          </p:cNvSpPr>
          <p:nvPr>
            <p:ph idx="10"/>
          </p:nvPr>
        </p:nvSpPr>
        <p:spPr>
          <a:xfrm>
            <a:off x="1167492" y="2484630"/>
            <a:ext cx="4928507" cy="3493474"/>
          </a:xfrm>
        </p:spPr>
        <p:txBody>
          <a:bodyPr/>
          <a:lstStyle/>
          <a:p>
            <a:r>
              <a:rPr lang="en-US" sz="1600" b="1" dirty="0"/>
              <a:t>Total sales by each country:</a:t>
            </a:r>
          </a:p>
          <a:p>
            <a:pPr marL="285750" indent="-285750">
              <a:buFont typeface="Arial" panose="020B0604020202020204" pitchFamily="34" charset="0"/>
              <a:buChar char="•"/>
            </a:pPr>
            <a:r>
              <a:rPr lang="en-US" sz="1600" dirty="0"/>
              <a:t>This visual shows that the US generates the highest revenue among all countries, totaling $7.51 million and accounting for approximately 42.9% of the total revenue, followed by Online sales and Canada.</a:t>
            </a:r>
          </a:p>
          <a:p>
            <a:pPr marL="285750" indent="-285750">
              <a:buFont typeface="Arial" panose="020B0604020202020204" pitchFamily="34" charset="0"/>
              <a:buChar char="•"/>
            </a:pPr>
            <a:r>
              <a:rPr lang="en-US" sz="1600" dirty="0"/>
              <a:t>France has the least revenue, totaling $347K and contributing approximately 1.99% of the total revenue.</a:t>
            </a:r>
          </a:p>
          <a:p>
            <a:pPr marL="285750" indent="-285750">
              <a:buFont typeface="Arial" panose="020B0604020202020204" pitchFamily="34" charset="0"/>
              <a:buChar char="•"/>
            </a:pPr>
            <a:r>
              <a:rPr lang="en-US" sz="1600" dirty="0"/>
              <a:t>So, the United States is the highest profit maker for Global Electronics.</a:t>
            </a:r>
          </a:p>
        </p:txBody>
      </p:sp>
      <p:pic>
        <p:nvPicPr>
          <p:cNvPr id="5" name="Picture 4">
            <a:extLst>
              <a:ext uri="{FF2B5EF4-FFF2-40B4-BE49-F238E27FC236}">
                <a16:creationId xmlns:a16="http://schemas.microsoft.com/office/drawing/2014/main" id="{4E1E5296-0A66-BAC1-29ED-90E81BCA4AF6}"/>
              </a:ext>
            </a:extLst>
          </p:cNvPr>
          <p:cNvPicPr>
            <a:picLocks noChangeAspect="1"/>
          </p:cNvPicPr>
          <p:nvPr/>
        </p:nvPicPr>
        <p:blipFill>
          <a:blip r:embed="rId3"/>
          <a:srcRect/>
          <a:stretch/>
        </p:blipFill>
        <p:spPr>
          <a:xfrm>
            <a:off x="6493017" y="2484630"/>
            <a:ext cx="4367115" cy="2880827"/>
          </a:xfrm>
          <a:prstGeom prst="rect">
            <a:avLst/>
          </a:prstGeom>
        </p:spPr>
      </p:pic>
    </p:spTree>
    <p:extLst>
      <p:ext uri="{BB962C8B-B14F-4D97-AF65-F5344CB8AC3E}">
        <p14:creationId xmlns:p14="http://schemas.microsoft.com/office/powerpoint/2010/main" val="3041717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2B7F2-8704-0380-4301-C7E6FA9AC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2E1BC-A53D-558D-0788-D2D2B9EF4D2A}"/>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BF4F3720-3480-7555-A88C-C5434918327C}"/>
              </a:ext>
            </a:extLst>
          </p:cNvPr>
          <p:cNvSpPr>
            <a:spLocks noGrp="1"/>
          </p:cNvSpPr>
          <p:nvPr>
            <p:ph idx="10"/>
          </p:nvPr>
        </p:nvSpPr>
        <p:spPr>
          <a:xfrm>
            <a:off x="1167492" y="2484630"/>
            <a:ext cx="4928507" cy="3493474"/>
          </a:xfrm>
        </p:spPr>
        <p:txBody>
          <a:bodyPr/>
          <a:lstStyle/>
          <a:p>
            <a:r>
              <a:rPr lang="en-US" sz="1600" b="1" dirty="0"/>
              <a:t>Total sales by store size:</a:t>
            </a:r>
          </a:p>
          <a:p>
            <a:pPr marL="285750" indent="-285750">
              <a:buFont typeface="Arial" panose="020B0604020202020204" pitchFamily="34" charset="0"/>
              <a:buChar char="•"/>
            </a:pPr>
            <a:r>
              <a:rPr lang="en-US" sz="1600" dirty="0"/>
              <a:t>The highest sales occurred in the US, with a store size of 2,000 square meters, followed by online sales (0.00) and the UK (2,100 square meters).</a:t>
            </a:r>
          </a:p>
          <a:p>
            <a:pPr marL="285750" indent="-285750">
              <a:buFont typeface="Arial" panose="020B0604020202020204" pitchFamily="34" charset="0"/>
              <a:buChar char="•"/>
            </a:pPr>
            <a:r>
              <a:rPr lang="en-US" sz="1600" dirty="0"/>
              <a:t>The least sales occurred in Australia, with a store size of 665 square meters.</a:t>
            </a:r>
          </a:p>
        </p:txBody>
      </p:sp>
      <p:pic>
        <p:nvPicPr>
          <p:cNvPr id="5" name="Picture 4">
            <a:extLst>
              <a:ext uri="{FF2B5EF4-FFF2-40B4-BE49-F238E27FC236}">
                <a16:creationId xmlns:a16="http://schemas.microsoft.com/office/drawing/2014/main" id="{FC50B201-EE50-7BA0-1653-4C8406632998}"/>
              </a:ext>
            </a:extLst>
          </p:cNvPr>
          <p:cNvPicPr>
            <a:picLocks noChangeAspect="1"/>
          </p:cNvPicPr>
          <p:nvPr/>
        </p:nvPicPr>
        <p:blipFill>
          <a:blip r:embed="rId3"/>
          <a:srcRect/>
          <a:stretch/>
        </p:blipFill>
        <p:spPr>
          <a:xfrm>
            <a:off x="6428793" y="2447208"/>
            <a:ext cx="4703570" cy="2740611"/>
          </a:xfrm>
          <a:prstGeom prst="rect">
            <a:avLst/>
          </a:prstGeom>
        </p:spPr>
      </p:pic>
    </p:spTree>
    <p:extLst>
      <p:ext uri="{BB962C8B-B14F-4D97-AF65-F5344CB8AC3E}">
        <p14:creationId xmlns:p14="http://schemas.microsoft.com/office/powerpoint/2010/main" val="3536660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7CACA-0AC4-6745-479B-560BE0D89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3D066-5974-98BA-C289-94CF2A10071F}"/>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76B822C0-86A8-3BCC-9BF0-3FA988F05746}"/>
              </a:ext>
            </a:extLst>
          </p:cNvPr>
          <p:cNvSpPr>
            <a:spLocks noGrp="1"/>
          </p:cNvSpPr>
          <p:nvPr>
            <p:ph idx="10"/>
          </p:nvPr>
        </p:nvSpPr>
        <p:spPr>
          <a:xfrm>
            <a:off x="1167492" y="2484630"/>
            <a:ext cx="4928507" cy="3493474"/>
          </a:xfrm>
        </p:spPr>
        <p:txBody>
          <a:bodyPr/>
          <a:lstStyle/>
          <a:p>
            <a:r>
              <a:rPr lang="en-US" sz="1600" b="1" dirty="0"/>
              <a:t>Total revenue by currency code:</a:t>
            </a:r>
          </a:p>
          <a:p>
            <a:pPr marL="285750" indent="-285750">
              <a:buFont typeface="Arial" panose="020B0604020202020204" pitchFamily="34" charset="0"/>
              <a:buChar char="•"/>
            </a:pPr>
            <a:r>
              <a:rPr lang="en-US" sz="1600" dirty="0"/>
              <a:t>This visual provides information about which currency code generates the highest revenue among all.</a:t>
            </a:r>
          </a:p>
          <a:p>
            <a:pPr marL="285750" indent="-285750">
              <a:buFont typeface="Arial" panose="020B0604020202020204" pitchFamily="34" charset="0"/>
              <a:buChar char="•"/>
            </a:pPr>
            <a:r>
              <a:rPr lang="en-US" sz="1600" dirty="0"/>
              <a:t>The highest revenue was generated by the USD currency, amounting to $9.46 million.</a:t>
            </a:r>
          </a:p>
          <a:p>
            <a:pPr marL="285750" indent="-285750">
              <a:buFont typeface="Arial" panose="020B0604020202020204" pitchFamily="34" charset="0"/>
              <a:buChar char="•"/>
            </a:pPr>
            <a:r>
              <a:rPr lang="en-US" sz="1600" dirty="0"/>
              <a:t>The lowest revenue was generated by the AUD currency, amounting to 1.36 million AUD, which is equivalent to $849k..</a:t>
            </a:r>
          </a:p>
        </p:txBody>
      </p:sp>
      <p:pic>
        <p:nvPicPr>
          <p:cNvPr id="5" name="Picture 4">
            <a:extLst>
              <a:ext uri="{FF2B5EF4-FFF2-40B4-BE49-F238E27FC236}">
                <a16:creationId xmlns:a16="http://schemas.microsoft.com/office/drawing/2014/main" id="{D5E27B87-F673-6DCF-6BEF-74E4AE6C07C2}"/>
              </a:ext>
            </a:extLst>
          </p:cNvPr>
          <p:cNvPicPr>
            <a:picLocks noChangeAspect="1"/>
          </p:cNvPicPr>
          <p:nvPr/>
        </p:nvPicPr>
        <p:blipFill>
          <a:blip r:embed="rId3"/>
          <a:srcRect/>
          <a:stretch/>
        </p:blipFill>
        <p:spPr>
          <a:xfrm>
            <a:off x="6749444" y="2447208"/>
            <a:ext cx="4062267" cy="2740611"/>
          </a:xfrm>
          <a:prstGeom prst="rect">
            <a:avLst/>
          </a:prstGeom>
        </p:spPr>
      </p:pic>
    </p:spTree>
    <p:extLst>
      <p:ext uri="{BB962C8B-B14F-4D97-AF65-F5344CB8AC3E}">
        <p14:creationId xmlns:p14="http://schemas.microsoft.com/office/powerpoint/2010/main" val="2439714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956BA-555E-6F94-3FB9-4CCE6D1E9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39F52-1DDF-66A5-DA4F-B074F50C64BC}"/>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5E677EA2-D204-1948-0A23-CFBF7F5BD76F}"/>
              </a:ext>
            </a:extLst>
          </p:cNvPr>
          <p:cNvSpPr>
            <a:spLocks noGrp="1"/>
          </p:cNvSpPr>
          <p:nvPr>
            <p:ph idx="10"/>
          </p:nvPr>
        </p:nvSpPr>
        <p:spPr>
          <a:xfrm>
            <a:off x="1167492" y="2484630"/>
            <a:ext cx="4928507" cy="3493474"/>
          </a:xfrm>
        </p:spPr>
        <p:txBody>
          <a:bodyPr/>
          <a:lstStyle/>
          <a:p>
            <a:r>
              <a:rPr lang="en-US" sz="1600" b="1" dirty="0"/>
              <a:t>Total sales by each month:</a:t>
            </a:r>
          </a:p>
          <a:p>
            <a:pPr marL="285750" indent="-285750">
              <a:buFont typeface="Arial" panose="020B0604020202020204" pitchFamily="34" charset="0"/>
              <a:buChar char="•"/>
            </a:pPr>
            <a:r>
              <a:rPr lang="en-US" sz="1600" dirty="0"/>
              <a:t>This visual provides monthly income insights for Global Electronics across all years.</a:t>
            </a:r>
          </a:p>
          <a:p>
            <a:pPr marL="285750" indent="-285750">
              <a:buFont typeface="Arial" panose="020B0604020202020204" pitchFamily="34" charset="0"/>
              <a:buChar char="•"/>
            </a:pPr>
            <a:r>
              <a:rPr lang="en-US" sz="1600" dirty="0"/>
              <a:t>December is the month with the highest sales among all months, indicating that consumers prefer making purchases during the winter season.</a:t>
            </a:r>
          </a:p>
          <a:p>
            <a:pPr marL="285750" indent="-285750">
              <a:buFont typeface="Arial" panose="020B0604020202020204" pitchFamily="34" charset="0"/>
              <a:buChar char="•"/>
            </a:pPr>
            <a:r>
              <a:rPr lang="en-US" sz="1600" dirty="0"/>
              <a:t>April has the least sales, likely due to it being a transitional month between seasons, with consumers waiting for new products.</a:t>
            </a:r>
          </a:p>
        </p:txBody>
      </p:sp>
      <p:pic>
        <p:nvPicPr>
          <p:cNvPr id="5" name="Picture 4">
            <a:extLst>
              <a:ext uri="{FF2B5EF4-FFF2-40B4-BE49-F238E27FC236}">
                <a16:creationId xmlns:a16="http://schemas.microsoft.com/office/drawing/2014/main" id="{E2986376-DD61-447D-A4AA-B3B0E0468C8A}"/>
              </a:ext>
            </a:extLst>
          </p:cNvPr>
          <p:cNvPicPr>
            <a:picLocks noChangeAspect="1"/>
          </p:cNvPicPr>
          <p:nvPr/>
        </p:nvPicPr>
        <p:blipFill>
          <a:blip r:embed="rId3"/>
          <a:srcRect/>
          <a:stretch/>
        </p:blipFill>
        <p:spPr>
          <a:xfrm>
            <a:off x="6272742" y="2484630"/>
            <a:ext cx="4672066" cy="2483145"/>
          </a:xfrm>
          <a:prstGeom prst="rect">
            <a:avLst/>
          </a:prstGeom>
        </p:spPr>
      </p:pic>
    </p:spTree>
    <p:extLst>
      <p:ext uri="{BB962C8B-B14F-4D97-AF65-F5344CB8AC3E}">
        <p14:creationId xmlns:p14="http://schemas.microsoft.com/office/powerpoint/2010/main" val="933432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D8277-2D33-8CA1-4815-98A0847A4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77656-3EA9-E369-B65F-3CB5048DB45C}"/>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7C3327F4-4159-6F14-3CC2-0327CC846C21}"/>
              </a:ext>
            </a:extLst>
          </p:cNvPr>
          <p:cNvSpPr>
            <a:spLocks noGrp="1"/>
          </p:cNvSpPr>
          <p:nvPr>
            <p:ph idx="10"/>
          </p:nvPr>
        </p:nvSpPr>
        <p:spPr>
          <a:xfrm>
            <a:off x="1167492" y="2484630"/>
            <a:ext cx="4928507" cy="3493474"/>
          </a:xfrm>
        </p:spPr>
        <p:txBody>
          <a:bodyPr/>
          <a:lstStyle/>
          <a:p>
            <a:r>
              <a:rPr lang="en-US" sz="1600" b="1" dirty="0"/>
              <a:t>Total revenue generated by customer Age &amp; Genders:</a:t>
            </a:r>
          </a:p>
          <a:p>
            <a:pPr marL="285750" indent="-285750">
              <a:buFont typeface="Arial" panose="020B0604020202020204" pitchFamily="34" charset="0"/>
              <a:buChar char="•"/>
            </a:pPr>
            <a:r>
              <a:rPr lang="en-US" sz="1600" dirty="0"/>
              <a:t>This visual shows the total revenue generated by each customer age group, broken down by gender.</a:t>
            </a:r>
          </a:p>
          <a:p>
            <a:pPr marL="285750" indent="-285750">
              <a:buFont typeface="Arial" panose="020B0604020202020204" pitchFamily="34" charset="0"/>
              <a:buChar char="•"/>
            </a:pPr>
            <a:r>
              <a:rPr lang="en-US" sz="1600" dirty="0"/>
              <a:t>The 30 age group has the highest revenue among all, with males generating $1.28M and females generating $1.37M, totaling $2.65M.</a:t>
            </a:r>
          </a:p>
          <a:p>
            <a:pPr marL="285750" indent="-285750">
              <a:buFont typeface="Arial" panose="020B0604020202020204" pitchFamily="34" charset="0"/>
              <a:buChar char="•"/>
            </a:pPr>
            <a:r>
              <a:rPr lang="en-US" sz="1600" dirty="0"/>
              <a:t>The least revenue comes from the 20 age group, with males generating $977k and females generating $962k, totaling $1.92M.</a:t>
            </a:r>
          </a:p>
        </p:txBody>
      </p:sp>
      <p:pic>
        <p:nvPicPr>
          <p:cNvPr id="5" name="Picture 4">
            <a:extLst>
              <a:ext uri="{FF2B5EF4-FFF2-40B4-BE49-F238E27FC236}">
                <a16:creationId xmlns:a16="http://schemas.microsoft.com/office/drawing/2014/main" id="{42D4E058-9DB0-92A6-F5E5-2D6C384F9E1F}"/>
              </a:ext>
            </a:extLst>
          </p:cNvPr>
          <p:cNvPicPr>
            <a:picLocks noChangeAspect="1"/>
          </p:cNvPicPr>
          <p:nvPr/>
        </p:nvPicPr>
        <p:blipFill>
          <a:blip r:embed="rId3"/>
          <a:srcRect/>
          <a:stretch/>
        </p:blipFill>
        <p:spPr>
          <a:xfrm>
            <a:off x="6851133" y="2737991"/>
            <a:ext cx="3858889" cy="2159045"/>
          </a:xfrm>
          <a:prstGeom prst="rect">
            <a:avLst/>
          </a:prstGeom>
        </p:spPr>
      </p:pic>
    </p:spTree>
    <p:extLst>
      <p:ext uri="{BB962C8B-B14F-4D97-AF65-F5344CB8AC3E}">
        <p14:creationId xmlns:p14="http://schemas.microsoft.com/office/powerpoint/2010/main" val="300226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9581-5357-9461-9B90-C4718EB9C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35E28-2E85-8D41-B860-4791A7BA4300}"/>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5D162744-0E54-5DDB-8841-A6236EEE18B8}"/>
              </a:ext>
            </a:extLst>
          </p:cNvPr>
          <p:cNvSpPr>
            <a:spLocks noGrp="1"/>
          </p:cNvSpPr>
          <p:nvPr>
            <p:ph idx="10"/>
          </p:nvPr>
        </p:nvSpPr>
        <p:spPr>
          <a:xfrm>
            <a:off x="1167492" y="2484630"/>
            <a:ext cx="4928507" cy="3493474"/>
          </a:xfrm>
        </p:spPr>
        <p:txBody>
          <a:bodyPr/>
          <a:lstStyle/>
          <a:p>
            <a:r>
              <a:rPr lang="en-US" sz="1600" b="1" dirty="0"/>
              <a:t>Total converted revenue by each Country:</a:t>
            </a:r>
          </a:p>
          <a:p>
            <a:pPr marL="285750" indent="-285750">
              <a:buFont typeface="Arial" panose="020B0604020202020204" pitchFamily="34" charset="0"/>
              <a:buChar char="•"/>
            </a:pPr>
            <a:r>
              <a:rPr lang="en-US" sz="1600" dirty="0"/>
              <a:t>This visual shows the total revenue and total converted revenue for each country.</a:t>
            </a:r>
          </a:p>
          <a:p>
            <a:pPr marL="285750" indent="-285750">
              <a:buFont typeface="Arial" panose="020B0604020202020204" pitchFamily="34" charset="0"/>
              <a:buChar char="•"/>
            </a:pPr>
            <a:r>
              <a:rPr lang="en-US" sz="1600" dirty="0"/>
              <a:t>The US has the highest revenue in both total and converted, with $7.51M.</a:t>
            </a:r>
          </a:p>
          <a:p>
            <a:pPr marL="285750" indent="-285750">
              <a:buFont typeface="Arial" panose="020B0604020202020204" pitchFamily="34" charset="0"/>
              <a:buChar char="•"/>
            </a:pPr>
            <a:r>
              <a:rPr lang="en-US" sz="1600" dirty="0"/>
              <a:t>France has the least revenue, with a total of $394k and total converted revenue of $347k.</a:t>
            </a:r>
          </a:p>
        </p:txBody>
      </p:sp>
      <p:pic>
        <p:nvPicPr>
          <p:cNvPr id="5" name="Picture 4">
            <a:extLst>
              <a:ext uri="{FF2B5EF4-FFF2-40B4-BE49-F238E27FC236}">
                <a16:creationId xmlns:a16="http://schemas.microsoft.com/office/drawing/2014/main" id="{6986940A-35B9-15CC-B38F-B81D919A720E}"/>
              </a:ext>
            </a:extLst>
          </p:cNvPr>
          <p:cNvPicPr>
            <a:picLocks noChangeAspect="1"/>
          </p:cNvPicPr>
          <p:nvPr/>
        </p:nvPicPr>
        <p:blipFill>
          <a:blip r:embed="rId3"/>
          <a:srcRect/>
          <a:stretch/>
        </p:blipFill>
        <p:spPr>
          <a:xfrm>
            <a:off x="6268537" y="2484629"/>
            <a:ext cx="4795669" cy="2544571"/>
          </a:xfrm>
          <a:prstGeom prst="rect">
            <a:avLst/>
          </a:prstGeom>
        </p:spPr>
      </p:pic>
    </p:spTree>
    <p:extLst>
      <p:ext uri="{BB962C8B-B14F-4D97-AF65-F5344CB8AC3E}">
        <p14:creationId xmlns:p14="http://schemas.microsoft.com/office/powerpoint/2010/main" val="335585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A02-DFE1-2BA0-E836-7E66631A3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4DEEC-4A09-173A-E434-848DA1BE50BB}"/>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F0540EBE-51FA-304A-DBF6-E1EDEE332812}"/>
              </a:ext>
            </a:extLst>
          </p:cNvPr>
          <p:cNvSpPr>
            <a:spLocks noGrp="1"/>
          </p:cNvSpPr>
          <p:nvPr>
            <p:ph idx="10"/>
          </p:nvPr>
        </p:nvSpPr>
        <p:spPr>
          <a:xfrm>
            <a:off x="1167492" y="2484630"/>
            <a:ext cx="4928507" cy="3493474"/>
          </a:xfrm>
        </p:spPr>
        <p:txBody>
          <a:bodyPr/>
          <a:lstStyle/>
          <a:p>
            <a:r>
              <a:rPr lang="en-US" sz="1600" b="1" dirty="0"/>
              <a:t>Sales by each sub category:</a:t>
            </a:r>
          </a:p>
          <a:p>
            <a:pPr marL="285750" indent="-285750">
              <a:buFont typeface="Arial" panose="020B0604020202020204" pitchFamily="34" charset="0"/>
              <a:buChar char="•"/>
            </a:pPr>
            <a:r>
              <a:rPr lang="en-US" sz="1400" dirty="0"/>
              <a:t>This visual shows the total revenue and total profit for each subcategory under the category.</a:t>
            </a:r>
          </a:p>
          <a:p>
            <a:pPr marL="285750" indent="-285750">
              <a:buFont typeface="Arial" panose="020B0604020202020204" pitchFamily="34" charset="0"/>
              <a:buChar char="•"/>
            </a:pPr>
            <a:r>
              <a:rPr lang="en-US" sz="1400" dirty="0"/>
              <a:t>The top subcategory is Movie DVD under the Music, Movie &amp; Audiobooks category, with a total revenue of $988k and total profit of $603k.</a:t>
            </a:r>
          </a:p>
          <a:p>
            <a:pPr marL="285750" indent="-285750">
              <a:buFont typeface="Arial" panose="020B0604020202020204" pitchFamily="34" charset="0"/>
              <a:buChar char="•"/>
            </a:pPr>
            <a:r>
              <a:rPr lang="en-US" sz="1400" dirty="0"/>
              <a:t>The least-performing subcategory is Home Theatre under the TV &amp; Audio category, with a total revenue of $224k and total profit of $124k.</a:t>
            </a:r>
          </a:p>
        </p:txBody>
      </p:sp>
      <p:pic>
        <p:nvPicPr>
          <p:cNvPr id="5" name="Picture 4">
            <a:extLst>
              <a:ext uri="{FF2B5EF4-FFF2-40B4-BE49-F238E27FC236}">
                <a16:creationId xmlns:a16="http://schemas.microsoft.com/office/drawing/2014/main" id="{F76D9A2B-6D53-85C2-0B0C-BCF7EA146858}"/>
              </a:ext>
            </a:extLst>
          </p:cNvPr>
          <p:cNvPicPr>
            <a:picLocks noChangeAspect="1"/>
          </p:cNvPicPr>
          <p:nvPr/>
        </p:nvPicPr>
        <p:blipFill>
          <a:blip r:embed="rId3"/>
          <a:srcRect/>
          <a:stretch/>
        </p:blipFill>
        <p:spPr>
          <a:xfrm>
            <a:off x="6060281" y="2489756"/>
            <a:ext cx="5217280" cy="3168799"/>
          </a:xfrm>
          <a:prstGeom prst="rect">
            <a:avLst/>
          </a:prstGeom>
        </p:spPr>
      </p:pic>
    </p:spTree>
    <p:extLst>
      <p:ext uri="{BB962C8B-B14F-4D97-AF65-F5344CB8AC3E}">
        <p14:creationId xmlns:p14="http://schemas.microsoft.com/office/powerpoint/2010/main" val="3127732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5294-D9A5-9343-3D49-846586CBF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F4187-B045-2660-2747-DD32975451A7}"/>
              </a:ext>
            </a:extLst>
          </p:cNvPr>
          <p:cNvSpPr>
            <a:spLocks noGrp="1"/>
          </p:cNvSpPr>
          <p:nvPr>
            <p:ph type="title"/>
          </p:nvPr>
        </p:nvSpPr>
        <p:spPr>
          <a:xfrm>
            <a:off x="1167492" y="457200"/>
            <a:ext cx="9692640" cy="1371600"/>
          </a:xfrm>
        </p:spPr>
        <p:txBody>
          <a:bodyPr/>
          <a:lstStyle/>
          <a:p>
            <a:r>
              <a:rPr lang="en-US" dirty="0"/>
              <a:t>Dashboard Insights</a:t>
            </a:r>
          </a:p>
        </p:txBody>
      </p:sp>
      <p:sp>
        <p:nvSpPr>
          <p:cNvPr id="4" name="Content Placeholder 3">
            <a:extLst>
              <a:ext uri="{FF2B5EF4-FFF2-40B4-BE49-F238E27FC236}">
                <a16:creationId xmlns:a16="http://schemas.microsoft.com/office/drawing/2014/main" id="{4FCA70FA-DF07-30F0-29C8-C53730FFB3C6}"/>
              </a:ext>
            </a:extLst>
          </p:cNvPr>
          <p:cNvSpPr>
            <a:spLocks noGrp="1"/>
          </p:cNvSpPr>
          <p:nvPr>
            <p:ph idx="10"/>
          </p:nvPr>
        </p:nvSpPr>
        <p:spPr>
          <a:xfrm>
            <a:off x="1167492" y="2484630"/>
            <a:ext cx="4928507" cy="3493474"/>
          </a:xfrm>
        </p:spPr>
        <p:txBody>
          <a:bodyPr/>
          <a:lstStyle/>
          <a:p>
            <a:r>
              <a:rPr lang="en-US" sz="1600" b="1" dirty="0"/>
              <a:t>Average profit by each sub category:</a:t>
            </a:r>
          </a:p>
          <a:p>
            <a:pPr marL="285750" indent="-285750">
              <a:buFont typeface="Arial" panose="020B0604020202020204" pitchFamily="34" charset="0"/>
              <a:buChar char="•"/>
            </a:pPr>
            <a:r>
              <a:rPr lang="en-US" sz="1400" dirty="0"/>
              <a:t>This visual illustrates the average profit generated by each subcategory.</a:t>
            </a:r>
          </a:p>
          <a:p>
            <a:pPr marL="285750" indent="-285750">
              <a:buFont typeface="Arial" panose="020B0604020202020204" pitchFamily="34" charset="0"/>
              <a:buChar char="•"/>
            </a:pPr>
            <a:r>
              <a:rPr lang="en-US" sz="1400" dirty="0"/>
              <a:t>Washers &amp; Dryers represent the subcategory with the highest average revenue, amounting to $1,810.26.</a:t>
            </a:r>
          </a:p>
          <a:p>
            <a:pPr marL="285750" indent="-285750">
              <a:buFont typeface="Arial" panose="020B0604020202020204" pitchFamily="34" charset="0"/>
              <a:buChar char="•"/>
            </a:pPr>
            <a:r>
              <a:rPr lang="en-US" sz="1400" dirty="0"/>
              <a:t>The least profitable subcategory is Boxed Games, with an average revenue of $8.34, likely due to the growing popularity of digital gaming platforms, which has significantly reduced the demand for physical game copies.</a:t>
            </a:r>
          </a:p>
        </p:txBody>
      </p:sp>
      <p:pic>
        <p:nvPicPr>
          <p:cNvPr id="5" name="Picture 4">
            <a:extLst>
              <a:ext uri="{FF2B5EF4-FFF2-40B4-BE49-F238E27FC236}">
                <a16:creationId xmlns:a16="http://schemas.microsoft.com/office/drawing/2014/main" id="{B5C663AF-351C-7F1C-1D4F-C8F2772C9D8E}"/>
              </a:ext>
            </a:extLst>
          </p:cNvPr>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Layer>
                </a14:imgProps>
              </a:ext>
            </a:extLst>
          </a:blip>
          <a:srcRect/>
          <a:stretch/>
        </p:blipFill>
        <p:spPr>
          <a:xfrm>
            <a:off x="6060281" y="2484630"/>
            <a:ext cx="5217280" cy="3179052"/>
          </a:xfrm>
          <a:prstGeom prst="rect">
            <a:avLst/>
          </a:prstGeom>
        </p:spPr>
      </p:pic>
    </p:spTree>
    <p:extLst>
      <p:ext uri="{BB962C8B-B14F-4D97-AF65-F5344CB8AC3E}">
        <p14:creationId xmlns:p14="http://schemas.microsoft.com/office/powerpoint/2010/main" val="2799860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7058-E4FE-6203-5B80-1DE160F72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E1DF5-9FBF-1CEB-CFB9-D2D124076DCC}"/>
              </a:ext>
            </a:extLst>
          </p:cNvPr>
          <p:cNvSpPr>
            <a:spLocks noGrp="1"/>
          </p:cNvSpPr>
          <p:nvPr>
            <p:ph type="title"/>
          </p:nvPr>
        </p:nvSpPr>
        <p:spPr>
          <a:xfrm>
            <a:off x="1167492" y="457200"/>
            <a:ext cx="9692640" cy="1371600"/>
          </a:xfrm>
        </p:spPr>
        <p:txBody>
          <a:bodyPr/>
          <a:lstStyle/>
          <a:p>
            <a:r>
              <a:rPr lang="en-US" dirty="0"/>
              <a:t>Tips to increase sales &amp; market growth</a:t>
            </a:r>
          </a:p>
        </p:txBody>
      </p:sp>
      <p:sp>
        <p:nvSpPr>
          <p:cNvPr id="4" name="Content Placeholder 3">
            <a:extLst>
              <a:ext uri="{FF2B5EF4-FFF2-40B4-BE49-F238E27FC236}">
                <a16:creationId xmlns:a16="http://schemas.microsoft.com/office/drawing/2014/main" id="{899B0252-0B43-C4A5-51AB-3634306A986A}"/>
              </a:ext>
            </a:extLst>
          </p:cNvPr>
          <p:cNvSpPr>
            <a:spLocks noGrp="1"/>
          </p:cNvSpPr>
          <p:nvPr>
            <p:ph idx="10"/>
          </p:nvPr>
        </p:nvSpPr>
        <p:spPr>
          <a:xfrm>
            <a:off x="1167492" y="2484630"/>
            <a:ext cx="7006124" cy="3493474"/>
          </a:xfrm>
        </p:spPr>
        <p:txBody>
          <a:bodyPr/>
          <a:lstStyle/>
          <a:p>
            <a:pPr marL="285750" indent="-285750">
              <a:buFont typeface="Arial" panose="020B0604020202020204" pitchFamily="34" charset="0"/>
              <a:buChar char="•"/>
            </a:pPr>
            <a:r>
              <a:rPr lang="en-US" sz="1400" dirty="0"/>
              <a:t>Global Electronics can boost sales and market growth by embracing innovation and adapting to market trends. </a:t>
            </a:r>
          </a:p>
          <a:p>
            <a:pPr marL="285750" indent="-285750">
              <a:buFont typeface="Arial" panose="020B0604020202020204" pitchFamily="34" charset="0"/>
              <a:buChar char="•"/>
            </a:pPr>
            <a:r>
              <a:rPr lang="en-US" sz="1400" dirty="0"/>
              <a:t>This involves continuously improving products, understanding consumer behavior, investing in digital tools, using data-driven decision making, being agile in operations, and forming strategic alliances. </a:t>
            </a:r>
          </a:p>
          <a:p>
            <a:pPr marL="285750" indent="-285750">
              <a:buFont typeface="Arial" panose="020B0604020202020204" pitchFamily="34" charset="0"/>
              <a:buChar char="•"/>
            </a:pPr>
            <a:r>
              <a:rPr lang="en-US" sz="1400" dirty="0"/>
              <a:t>By staying ahead of trends, companies can capitalize on opportunities and mitigate risks. </a:t>
            </a:r>
          </a:p>
          <a:p>
            <a:pPr marL="285750" indent="-285750">
              <a:buFont typeface="Arial" panose="020B0604020202020204" pitchFamily="34" charset="0"/>
              <a:buChar char="•"/>
            </a:pPr>
            <a:r>
              <a:rPr lang="en-US" sz="1400" dirty="0"/>
              <a:t>By staying innovative and responsive, companies can foster long-term growth and gain a competitive edge in the marketplace.</a:t>
            </a:r>
          </a:p>
        </p:txBody>
      </p:sp>
    </p:spTree>
    <p:extLst>
      <p:ext uri="{BB962C8B-B14F-4D97-AF65-F5344CB8AC3E}">
        <p14:creationId xmlns:p14="http://schemas.microsoft.com/office/powerpoint/2010/main" val="1035236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7FC500-BBFB-3AA4-BEDE-038CB94FFF61}"/>
              </a:ext>
            </a:extLst>
          </p:cNvPr>
          <p:cNvSpPr>
            <a:spLocks noGrp="1" noChangeAspect="1"/>
          </p:cNvSpPr>
          <p:nvPr>
            <p:ph idx="17"/>
          </p:nvPr>
        </p:nvSpPr>
        <p:spPr>
          <a:xfrm>
            <a:off x="823108" y="640080"/>
            <a:ext cx="4297680" cy="4297680"/>
          </a:xfrm>
        </p:spPr>
        <p:txBody>
          <a:bodyPr/>
          <a:lstStyle/>
          <a:p>
            <a:r>
              <a:rPr lang="en-US" sz="4200" b="1" dirty="0">
                <a:latin typeface="+mj-lt"/>
              </a:rPr>
              <a:t>Conclusion</a:t>
            </a:r>
          </a:p>
        </p:txBody>
      </p:sp>
      <p:sp>
        <p:nvSpPr>
          <p:cNvPr id="4" name="Content Placeholder 3">
            <a:extLst>
              <a:ext uri="{FF2B5EF4-FFF2-40B4-BE49-F238E27FC236}">
                <a16:creationId xmlns:a16="http://schemas.microsoft.com/office/drawing/2014/main" id="{DE5C7B5A-A5C3-15D4-DF71-B692D28942FC}"/>
              </a:ext>
            </a:extLst>
          </p:cNvPr>
          <p:cNvSpPr>
            <a:spLocks noGrp="1"/>
          </p:cNvSpPr>
          <p:nvPr>
            <p:ph idx="15"/>
          </p:nvPr>
        </p:nvSpPr>
        <p:spPr>
          <a:xfrm>
            <a:off x="5549900" y="1791970"/>
            <a:ext cx="5943600" cy="4297680"/>
          </a:xfrm>
        </p:spPr>
        <p:txBody>
          <a:bodyPr>
            <a:normAutofit/>
          </a:bodyPr>
          <a:lstStyle/>
          <a:p>
            <a:pPr lvl="1"/>
            <a:r>
              <a:rPr lang="en-US" sz="1600" dirty="0"/>
              <a:t>Most customers prefer online purchases because of the convenience, wider product selection, ability to compare prices, and the ease of shopping from home without the need to visit physical stores.</a:t>
            </a:r>
          </a:p>
          <a:p>
            <a:pPr lvl="1"/>
            <a:r>
              <a:rPr lang="en-US" sz="1600" dirty="0"/>
              <a:t>The US has the highest sales due to factors such as a large consumer base, strong purchasing power, well-developed infrastructure, and a high demand for diverse products across various sectors.</a:t>
            </a:r>
          </a:p>
          <a:p>
            <a:pPr lvl="1"/>
            <a:r>
              <a:rPr lang="en-US" sz="1600" dirty="0"/>
              <a:t>To increase sales and market growth, companies can focus on strategies such as expanding product offerings, enhancing customer experience, leveraging digital marketing, optimizing pricing strategies, building strong brand loyalty, and entering new markets or segments. Additionally, embracing innovation and adapting to market trends can drive sustained growth.</a:t>
            </a:r>
          </a:p>
          <a:p>
            <a:pPr lvl="1"/>
            <a:endParaRPr lang="en-US" dirty="0"/>
          </a:p>
          <a:p>
            <a:endParaRPr lang="en-US" dirty="0"/>
          </a:p>
        </p:txBody>
      </p:sp>
    </p:spTree>
    <p:extLst>
      <p:ext uri="{BB962C8B-B14F-4D97-AF65-F5344CB8AC3E}">
        <p14:creationId xmlns:p14="http://schemas.microsoft.com/office/powerpoint/2010/main" val="853261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r>
              <a:rPr lang="en-US" dirty="0"/>
              <a:t>Sathiyan U C</a:t>
            </a:r>
          </a:p>
          <a:p>
            <a:r>
              <a:rPr lang="en-US" dirty="0">
                <a:hlinkClick r:id="rId3"/>
              </a:rPr>
              <a:t>sathiyanuc@gmail.com</a:t>
            </a:r>
            <a:endParaRPr lang="en-US" dirty="0"/>
          </a:p>
          <a:p>
            <a:r>
              <a:rPr lang="en-US" dirty="0">
                <a:hlinkClick r:id="rId4"/>
              </a:rPr>
              <a:t>LinkedIn</a:t>
            </a:r>
            <a:endParaRPr lang="en-US" dirty="0"/>
          </a:p>
          <a:p>
            <a:r>
              <a:rPr lang="en-US" dirty="0">
                <a:hlinkClick r:id="rId5"/>
              </a:rPr>
              <a:t>GitHub</a:t>
            </a:r>
            <a:endParaRPr lang="en-US"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2.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1965</Words>
  <Application>Microsoft Office PowerPoint</Application>
  <PresentationFormat>Widescreen</PresentationFormat>
  <Paragraphs>195</Paragraphs>
  <Slides>31</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Tenorite</vt:lpstr>
      <vt:lpstr>Custom</vt:lpstr>
      <vt:lpstr>DataSpark: Illuminating Insights for Global Electronics</vt:lpstr>
      <vt:lpstr>Agenda</vt:lpstr>
      <vt:lpstr>Introduction</vt:lpstr>
      <vt:lpstr>Introduction to the company</vt:lpstr>
      <vt:lpstr>Problem Statement</vt:lpstr>
      <vt:lpstr>Problem Statement &amp; Use Cases</vt:lpstr>
      <vt:lpstr>Steps</vt:lpstr>
      <vt:lpstr>Steps</vt:lpstr>
      <vt:lpstr>Step 1: Dataset Review </vt:lpstr>
      <vt:lpstr>Dataset Review</vt:lpstr>
      <vt:lpstr>Step 2: Data Preprocessing </vt:lpstr>
      <vt:lpstr>Step 3: Exploratory Data Analysis </vt:lpstr>
      <vt:lpstr>Exploratory Data Analysis(EDA)</vt:lpstr>
      <vt:lpstr>Step 4: Importing Data into SQL and Writing Queries in SQL </vt:lpstr>
      <vt:lpstr>Data Visualization using Power BI</vt:lpstr>
      <vt:lpstr>Dashboard</vt:lpstr>
      <vt:lpstr>Dashboard Insights</vt:lpstr>
      <vt:lpstr>Dashboard Insights</vt:lpstr>
      <vt:lpstr>Dashboard Insights</vt:lpstr>
      <vt:lpstr>Dashboard Insights</vt:lpstr>
      <vt:lpstr>Dashboard Insights</vt:lpstr>
      <vt:lpstr>Dashboard Insights</vt:lpstr>
      <vt:lpstr>Dashboard Insights</vt:lpstr>
      <vt:lpstr>Dashboard Insights</vt:lpstr>
      <vt:lpstr>Dashboard Insights</vt:lpstr>
      <vt:lpstr>Dashboard Insights</vt:lpstr>
      <vt:lpstr>Dashboard Insights</vt:lpstr>
      <vt:lpstr>Dashboard Insights</vt:lpstr>
      <vt:lpstr>Tips to increase sales &amp; market growth</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2023-12-12T16:04:07Z</dcterms:created>
  <dcterms:modified xsi:type="dcterms:W3CDTF">2024-12-25T13:10:52Z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